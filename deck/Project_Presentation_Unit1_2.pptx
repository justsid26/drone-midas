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FEEEC"/>
        </a:solidFill>
        <a:effectLst/>
      </p:bgPr>
    </p:bg>
    <p:spTree>
      <p:nvGrpSpPr>
        <p:cNvPr id="1" name=""/>
        <p:cNvGrpSpPr/>
        <p:nvPr/>
      </p:nvGrpSpPr>
      <p:grpSpPr/>
      <p:sp>
        <p:nvSpPr>
          <p:cNvPr id="2" name="Rectangle 1"/>
          <p:cNvSpPr/>
          <p:nvPr/>
        </p:nvSpPr>
        <p:spPr>
          <a:xfrm>
            <a:off x="1508760" y="2221992"/>
            <a:ext cx="2057400" cy="36576"/>
          </a:xfrm>
          <a:prstGeom prst="rect">
            <a:avLst/>
          </a:prstGeom>
          <a:solidFill>
            <a:srgbClr val="40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508760" y="3246120"/>
            <a:ext cx="15361920" cy="2926080"/>
          </a:xfrm>
          <a:prstGeom prst="rect">
            <a:avLst/>
          </a:prstGeom>
          <a:noFill/>
        </p:spPr>
        <p:txBody>
          <a:bodyPr wrap="square" anchor="t" lIns="0" rIns="0" tIns="0" bIns="0">
            <a:spAutoFit/>
          </a:bodyPr>
          <a:lstStyle/>
          <a:p>
            <a:pPr algn="l">
              <a:lnSpc>
                <a:spcPct val="102000"/>
              </a:lnSpc>
              <a:spcBef>
                <a:spcPts val="0"/>
              </a:spcBef>
              <a:spcAft>
                <a:spcPts val="200"/>
              </a:spcAft>
            </a:pPr>
            <a:r>
              <a:rPr sz="6200">
                <a:solidFill>
                  <a:srgbClr val="403E3E"/>
                </a:solidFill>
                <a:latin typeface="Inter SemiBold"/>
              </a:rPr>
              <a:t>Autonomous Drone Obstacle Avoidance</a:t>
            </a:r>
          </a:p>
          <a:p>
            <a:pPr algn="l">
              <a:lnSpc>
                <a:spcPct val="102000"/>
              </a:lnSpc>
              <a:spcBef>
                <a:spcPts val="0"/>
              </a:spcBef>
              <a:spcAft>
                <a:spcPts val="1000"/>
              </a:spcAft>
            </a:pPr>
            <a:r>
              <a:rPr sz="6200">
                <a:solidFill>
                  <a:srgbClr val="403E3E"/>
                </a:solidFill>
                <a:latin typeface="Inter SemiBold"/>
              </a:rPr>
              <a:t>Using Monocular Depth Estimation</a:t>
            </a:r>
          </a:p>
          <a:p>
            <a:pPr algn="l">
              <a:lnSpc>
                <a:spcPct val="105000"/>
              </a:lnSpc>
              <a:spcBef>
                <a:spcPts val="0"/>
              </a:spcBef>
              <a:spcAft>
                <a:spcPts val="400"/>
              </a:spcAft>
            </a:pPr>
            <a:r>
              <a:rPr sz="3400">
                <a:solidFill>
                  <a:srgbClr val="8A8684"/>
                </a:solidFill>
                <a:latin typeface="Inter Light"/>
              </a:rPr>
              <a:t>Fixed Wing VTOL  ·  Robotics and Computer Vision</a:t>
            </a:r>
          </a:p>
        </p:txBody>
      </p:sp>
      <p:sp>
        <p:nvSpPr>
          <p:cNvPr id="4" name="Rectangle 3"/>
          <p:cNvSpPr/>
          <p:nvPr/>
        </p:nvSpPr>
        <p:spPr>
          <a:xfrm>
            <a:off x="1508760" y="7333488"/>
            <a:ext cx="4114800" cy="18288"/>
          </a:xfrm>
          <a:prstGeom prst="rect">
            <a:avLst/>
          </a:prstGeom>
          <a:solidFill>
            <a:srgbClr val="D5D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508760" y="7726679"/>
            <a:ext cx="15087600" cy="1280160"/>
          </a:xfrm>
          <a:prstGeom prst="rect">
            <a:avLst/>
          </a:prstGeom>
          <a:noFill/>
        </p:spPr>
        <p:txBody>
          <a:bodyPr wrap="square" anchor="t" lIns="0" rIns="0" tIns="0" bIns="0">
            <a:spAutoFit/>
          </a:bodyPr>
          <a:lstStyle/>
          <a:p>
            <a:pPr algn="l">
              <a:lnSpc>
                <a:spcPct val="100000"/>
              </a:lnSpc>
              <a:spcBef>
                <a:spcPts val="0"/>
              </a:spcBef>
              <a:spcAft>
                <a:spcPts val="800"/>
              </a:spcAft>
            </a:pPr>
            <a:r>
              <a:rPr sz="2400">
                <a:solidFill>
                  <a:srgbClr val="403E3E"/>
                </a:solidFill>
                <a:latin typeface="Inter SemiBold"/>
              </a:rPr>
              <a:t>Siddharth Lama     Manit Aravind     Sahil Asopa     Riyaan Sheth</a:t>
            </a:r>
          </a:p>
          <a:p>
            <a:pPr algn="l">
              <a:lnSpc>
                <a:spcPct val="100000"/>
              </a:lnSpc>
              <a:spcBef>
                <a:spcPts val="0"/>
              </a:spcBef>
              <a:spcAft>
                <a:spcPts val="400"/>
              </a:spcAft>
            </a:pPr>
            <a:r>
              <a:rPr sz="1700">
                <a:solidFill>
                  <a:srgbClr val="8A8684"/>
                </a:solidFill>
                <a:latin typeface="Inter Light"/>
              </a:rPr>
              <a:t>BTECH CAP 501  Project Life Cycle Management  ·  Unit 1 and 2</a:t>
            </a:r>
          </a:p>
        </p:txBody>
      </p:sp>
      <p:sp>
        <p:nvSpPr>
          <p:cNvPr id="6" name="TextBox 5"/>
          <p:cNvSpPr txBox="1"/>
          <p:nvPr/>
        </p:nvSpPr>
        <p:spPr>
          <a:xfrm>
            <a:off x="16824960" y="9509760"/>
            <a:ext cx="640080" cy="320040"/>
          </a:xfrm>
          <a:prstGeom prst="rect">
            <a:avLst/>
          </a:prstGeom>
          <a:noFill/>
        </p:spPr>
        <p:txBody>
          <a:bodyPr wrap="square" anchor="t" lIns="0" rIns="0" tIns="0" bIns="0">
            <a:spAutoFit/>
          </a:bodyPr>
          <a:lstStyle/>
          <a:p>
            <a:pPr algn="r">
              <a:lnSpc>
                <a:spcPct val="100000"/>
              </a:lnSpc>
              <a:spcBef>
                <a:spcPts val="0"/>
              </a:spcBef>
              <a:spcAft>
                <a:spcPts val="400"/>
              </a:spcAft>
            </a:pPr>
            <a:r>
              <a:rPr sz="1300">
                <a:solidFill>
                  <a:srgbClr val="8A8684"/>
                </a:solidFill>
                <a:latin typeface="Inter Light"/>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FEEEC"/>
        </a:solidFill>
        <a:effectLst/>
      </p:bgPr>
    </p:bg>
    <p:spTree>
      <p:nvGrpSpPr>
        <p:cNvPr id="1" name=""/>
        <p:cNvGrpSpPr/>
        <p:nvPr/>
      </p:nvGrpSpPr>
      <p:grpSpPr/>
      <p:sp>
        <p:nvSpPr>
          <p:cNvPr id="2" name="TextBox 1"/>
          <p:cNvSpPr txBox="1"/>
          <p:nvPr/>
        </p:nvSpPr>
        <p:spPr>
          <a:xfrm>
            <a:off x="822960" y="576072"/>
            <a:ext cx="16733520" cy="1234440"/>
          </a:xfrm>
          <a:prstGeom prst="rect">
            <a:avLst/>
          </a:prstGeom>
          <a:noFill/>
        </p:spPr>
        <p:txBody>
          <a:bodyPr wrap="square" anchor="t" lIns="0" rIns="0" tIns="0" bIns="0">
            <a:spAutoFit/>
          </a:bodyPr>
          <a:lstStyle/>
          <a:p>
            <a:pPr algn="l">
              <a:lnSpc>
                <a:spcPct val="100000"/>
              </a:lnSpc>
              <a:spcBef>
                <a:spcPts val="0"/>
              </a:spcBef>
              <a:spcAft>
                <a:spcPts val="600"/>
              </a:spcAft>
            </a:pPr>
            <a:r>
              <a:rPr sz="1500">
                <a:solidFill>
                  <a:srgbClr val="8A8684"/>
                </a:solidFill>
                <a:latin typeface="Inter Light"/>
              </a:rPr>
              <a:t>DOMAIN  ·  ROBOTICS AND COMPUTER VISION</a:t>
            </a:r>
          </a:p>
          <a:p>
            <a:pPr algn="l">
              <a:lnSpc>
                <a:spcPct val="100000"/>
              </a:lnSpc>
              <a:spcBef>
                <a:spcPts val="0"/>
              </a:spcBef>
              <a:spcAft>
                <a:spcPts val="0"/>
              </a:spcAft>
            </a:pPr>
            <a:r>
              <a:rPr sz="4350">
                <a:solidFill>
                  <a:srgbClr val="403E3E"/>
                </a:solidFill>
                <a:latin typeface="Inter"/>
              </a:rPr>
              <a:t>Project Introduction</a:t>
            </a:r>
          </a:p>
        </p:txBody>
      </p:sp>
      <p:sp>
        <p:nvSpPr>
          <p:cNvPr id="3" name="Rectangle 2"/>
          <p:cNvSpPr/>
          <p:nvPr/>
        </p:nvSpPr>
        <p:spPr>
          <a:xfrm>
            <a:off x="822960" y="1755648"/>
            <a:ext cx="16642080" cy="18288"/>
          </a:xfrm>
          <a:prstGeom prst="rect">
            <a:avLst/>
          </a:prstGeom>
          <a:solidFill>
            <a:srgbClr val="D5D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6824960" y="9509760"/>
            <a:ext cx="640080" cy="320040"/>
          </a:xfrm>
          <a:prstGeom prst="rect">
            <a:avLst/>
          </a:prstGeom>
          <a:noFill/>
        </p:spPr>
        <p:txBody>
          <a:bodyPr wrap="square" anchor="t" lIns="0" rIns="0" tIns="0" bIns="0">
            <a:spAutoFit/>
          </a:bodyPr>
          <a:lstStyle/>
          <a:p>
            <a:pPr algn="r">
              <a:lnSpc>
                <a:spcPct val="100000"/>
              </a:lnSpc>
              <a:spcBef>
                <a:spcPts val="0"/>
              </a:spcBef>
              <a:spcAft>
                <a:spcPts val="400"/>
              </a:spcAft>
            </a:pPr>
            <a:r>
              <a:rPr sz="1300">
                <a:solidFill>
                  <a:srgbClr val="8A8684"/>
                </a:solidFill>
                <a:latin typeface="Inter Light"/>
              </a:rPr>
              <a:t>2</a:t>
            </a:r>
          </a:p>
        </p:txBody>
      </p:sp>
      <p:sp>
        <p:nvSpPr>
          <p:cNvPr id="5" name="TextBox 4"/>
          <p:cNvSpPr txBox="1"/>
          <p:nvPr/>
        </p:nvSpPr>
        <p:spPr>
          <a:xfrm>
            <a:off x="822960" y="2057400"/>
            <a:ext cx="9692640" cy="5669280"/>
          </a:xfrm>
          <a:prstGeom prst="rect">
            <a:avLst/>
          </a:prstGeom>
          <a:noFill/>
        </p:spPr>
        <p:txBody>
          <a:bodyPr wrap="square" anchor="t" lIns="0" rIns="0" tIns="0" bIns="0">
            <a:spAutoFit/>
          </a:bodyPr>
          <a:lstStyle/>
          <a:p>
            <a:pPr>
              <a:lnSpc>
                <a:spcPct val="114000"/>
              </a:lnSpc>
              <a:spcAft>
                <a:spcPts val="1100"/>
              </a:spcAft>
            </a:pPr>
            <a:r>
              <a:rPr sz="1600">
                <a:solidFill>
                  <a:srgbClr val="8A8684"/>
                </a:solidFill>
                <a:latin typeface="Inter"/>
              </a:rPr>
              <a:t>—&gt;   </a:t>
            </a:r>
            <a:r>
              <a:rPr sz="1900">
                <a:solidFill>
                  <a:srgbClr val="555252"/>
                </a:solidFill>
                <a:latin typeface="Inter"/>
              </a:rPr>
              <a:t>Small drones now inspect towers, survey sites, monitor crops and carry parcels. Almost all of that work happens close to structures and close to people.</a:t>
            </a:r>
          </a:p>
          <a:p>
            <a:pPr>
              <a:lnSpc>
                <a:spcPct val="114000"/>
              </a:lnSpc>
              <a:spcAft>
                <a:spcPts val="1100"/>
              </a:spcAft>
            </a:pPr>
            <a:r>
              <a:rPr sz="1600">
                <a:solidFill>
                  <a:srgbClr val="8A8684"/>
                </a:solidFill>
                <a:latin typeface="Inter"/>
              </a:rPr>
              <a:t>—&gt;   </a:t>
            </a:r>
            <a:r>
              <a:rPr sz="1900">
                <a:solidFill>
                  <a:srgbClr val="555252"/>
                </a:solidFill>
                <a:latin typeface="Inter"/>
              </a:rPr>
              <a:t>To avoid obstacles you must know distance. Laser scanners measure it well but are heavy, costly and power hungry. Stereo pairs need calibration that survives vibration.</a:t>
            </a:r>
          </a:p>
          <a:p>
            <a:pPr>
              <a:lnSpc>
                <a:spcPct val="114000"/>
              </a:lnSpc>
              <a:spcAft>
                <a:spcPts val="1100"/>
              </a:spcAft>
            </a:pPr>
            <a:r>
              <a:rPr sz="1600">
                <a:solidFill>
                  <a:srgbClr val="8A8684"/>
                </a:solidFill>
                <a:latin typeface="Inter"/>
              </a:rPr>
              <a:t>—&gt;   </a:t>
            </a:r>
            <a:r>
              <a:rPr sz="1900">
                <a:solidFill>
                  <a:srgbClr val="555252"/>
                </a:solidFill>
                <a:latin typeface="Inter"/>
              </a:rPr>
              <a:t>On a small airframe the binding currency is mass. Every gram of sensor is a gram not spent on battery, and battery is flight time.</a:t>
            </a:r>
          </a:p>
          <a:p>
            <a:pPr>
              <a:lnSpc>
                <a:spcPct val="114000"/>
              </a:lnSpc>
              <a:spcAft>
                <a:spcPts val="1100"/>
              </a:spcAft>
            </a:pPr>
            <a:r>
              <a:rPr sz="1600">
                <a:solidFill>
                  <a:srgbClr val="8A8684"/>
                </a:solidFill>
                <a:latin typeface="Inter"/>
              </a:rPr>
              <a:t>—&gt;   </a:t>
            </a:r>
            <a:r>
              <a:rPr sz="1900">
                <a:solidFill>
                  <a:srgbClr val="555252"/>
                </a:solidFill>
                <a:latin typeface="Inter"/>
              </a:rPr>
              <a:t>One ordinary camera weighs a few grams and costs very little. It simply cannot measure distance, because projection destroys depth.</a:t>
            </a:r>
          </a:p>
        </p:txBody>
      </p:sp>
      <p:sp>
        <p:nvSpPr>
          <p:cNvPr id="6" name="Rectangle 5"/>
          <p:cNvSpPr/>
          <p:nvPr/>
        </p:nvSpPr>
        <p:spPr>
          <a:xfrm>
            <a:off x="11173968" y="2057400"/>
            <a:ext cx="6309360" cy="3200400"/>
          </a:xfrm>
          <a:prstGeom prst="rect">
            <a:avLst/>
          </a:prstGeom>
          <a:solidFill>
            <a:srgbClr val="FDFDFA"/>
          </a:solidFill>
          <a:ln w="9144">
            <a:solidFill>
              <a:srgbClr val="D5D2C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558016" y="2386584"/>
            <a:ext cx="5541264" cy="2542032"/>
          </a:xfrm>
          <a:prstGeom prst="rect">
            <a:avLst/>
          </a:prstGeom>
          <a:noFill/>
        </p:spPr>
        <p:txBody>
          <a:bodyPr wrap="square" anchor="t" lIns="0" rIns="0" tIns="0" bIns="0">
            <a:spAutoFit/>
          </a:bodyPr>
          <a:lstStyle/>
          <a:p>
            <a:pPr algn="l">
              <a:lnSpc>
                <a:spcPct val="100000"/>
              </a:lnSpc>
              <a:spcBef>
                <a:spcPts val="0"/>
              </a:spcBef>
              <a:spcAft>
                <a:spcPts val="700"/>
              </a:spcAft>
            </a:pPr>
            <a:r>
              <a:rPr sz="2100">
                <a:solidFill>
                  <a:srgbClr val="403E3E"/>
                </a:solidFill>
                <a:latin typeface="Inter SemiBold"/>
              </a:rPr>
              <a:t>The problem area</a:t>
            </a:r>
          </a:p>
          <a:p>
            <a:pPr algn="l">
              <a:lnSpc>
                <a:spcPct val="112000"/>
              </a:lnSpc>
              <a:spcBef>
                <a:spcPts val="0"/>
              </a:spcBef>
              <a:spcAft>
                <a:spcPts val="700"/>
              </a:spcAft>
            </a:pPr>
            <a:r>
              <a:rPr sz="1650">
                <a:solidFill>
                  <a:srgbClr val="555252"/>
                </a:solidFill>
                <a:latin typeface="Inter"/>
              </a:rPr>
              <a:t>A single photograph has no distance in it. A small object near the lens and a large one far away project to identical pixels.</a:t>
            </a:r>
          </a:p>
          <a:p>
            <a:pPr algn="l">
              <a:lnSpc>
                <a:spcPct val="112000"/>
              </a:lnSpc>
              <a:spcBef>
                <a:spcPts val="0"/>
              </a:spcBef>
              <a:spcAft>
                <a:spcPts val="700"/>
              </a:spcAft>
            </a:pPr>
            <a:r>
              <a:rPr sz="1650">
                <a:solidFill>
                  <a:srgbClr val="555252"/>
                </a:solidFill>
                <a:latin typeface="Inter"/>
              </a:rPr>
              <a:t>No amount of geometry recovers the difference from one image.</a:t>
            </a:r>
          </a:p>
        </p:txBody>
      </p:sp>
      <p:sp>
        <p:nvSpPr>
          <p:cNvPr id="8" name="Rectangle 7"/>
          <p:cNvSpPr/>
          <p:nvPr/>
        </p:nvSpPr>
        <p:spPr>
          <a:xfrm>
            <a:off x="11173968" y="5550408"/>
            <a:ext cx="6309360" cy="3200400"/>
          </a:xfrm>
          <a:prstGeom prst="rect">
            <a:avLst/>
          </a:prstGeom>
          <a:solidFill>
            <a:srgbClr val="40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558016" y="5879592"/>
            <a:ext cx="5541264" cy="2542032"/>
          </a:xfrm>
          <a:prstGeom prst="rect">
            <a:avLst/>
          </a:prstGeom>
          <a:noFill/>
        </p:spPr>
        <p:txBody>
          <a:bodyPr wrap="square" anchor="t" lIns="0" rIns="0" tIns="0" bIns="0">
            <a:spAutoFit/>
          </a:bodyPr>
          <a:lstStyle/>
          <a:p>
            <a:pPr algn="l">
              <a:lnSpc>
                <a:spcPct val="100000"/>
              </a:lnSpc>
              <a:spcBef>
                <a:spcPts val="0"/>
              </a:spcBef>
              <a:spcAft>
                <a:spcPts val="700"/>
              </a:spcAft>
            </a:pPr>
            <a:r>
              <a:rPr sz="2100">
                <a:solidFill>
                  <a:srgbClr val="EFEEEC"/>
                </a:solidFill>
                <a:latin typeface="Inter SemiBold"/>
              </a:rPr>
              <a:t>What changed</a:t>
            </a:r>
          </a:p>
          <a:p>
            <a:pPr algn="l">
              <a:lnSpc>
                <a:spcPct val="112000"/>
              </a:lnSpc>
              <a:spcBef>
                <a:spcPts val="0"/>
              </a:spcBef>
              <a:spcAft>
                <a:spcPts val="700"/>
              </a:spcAft>
            </a:pPr>
            <a:r>
              <a:rPr sz="1650">
                <a:solidFill>
                  <a:srgbClr val="C9C6C3"/>
                </a:solidFill>
                <a:latin typeface="Inter"/>
              </a:rPr>
              <a:t>Photographs of the real world are highly structured. Distant surfaces look smaller, lose contrast and are hidden by nearer ones.</a:t>
            </a:r>
          </a:p>
          <a:p>
            <a:pPr algn="l">
              <a:lnSpc>
                <a:spcPct val="112000"/>
              </a:lnSpc>
              <a:spcBef>
                <a:spcPts val="0"/>
              </a:spcBef>
              <a:spcAft>
                <a:spcPts val="700"/>
              </a:spcAft>
            </a:pPr>
            <a:r>
              <a:rPr sz="1650">
                <a:solidFill>
                  <a:srgbClr val="C9C6C3"/>
                </a:solidFill>
                <a:latin typeface="Inter"/>
              </a:rPr>
              <a:t>MiDaS learned those cues from a mixture of public datasets and generalises to scenes it has never seen.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FEEEC"/>
        </a:solidFill>
        <a:effectLst/>
      </p:bgPr>
    </p:bg>
    <p:spTree>
      <p:nvGrpSpPr>
        <p:cNvPr id="1" name=""/>
        <p:cNvGrpSpPr/>
        <p:nvPr/>
      </p:nvGrpSpPr>
      <p:grpSpPr/>
      <p:sp>
        <p:nvSpPr>
          <p:cNvPr id="2" name="TextBox 1"/>
          <p:cNvSpPr txBox="1"/>
          <p:nvPr/>
        </p:nvSpPr>
        <p:spPr>
          <a:xfrm>
            <a:off x="822960" y="576072"/>
            <a:ext cx="16733520" cy="1234440"/>
          </a:xfrm>
          <a:prstGeom prst="rect">
            <a:avLst/>
          </a:prstGeom>
          <a:noFill/>
        </p:spPr>
        <p:txBody>
          <a:bodyPr wrap="square" anchor="t" lIns="0" rIns="0" tIns="0" bIns="0">
            <a:spAutoFit/>
          </a:bodyPr>
          <a:lstStyle/>
          <a:p>
            <a:pPr algn="l">
              <a:lnSpc>
                <a:spcPct val="100000"/>
              </a:lnSpc>
              <a:spcBef>
                <a:spcPts val="0"/>
              </a:spcBef>
              <a:spcAft>
                <a:spcPts val="600"/>
              </a:spcAft>
            </a:pPr>
            <a:r>
              <a:rPr sz="1500">
                <a:solidFill>
                  <a:srgbClr val="8A8684"/>
                </a:solidFill>
                <a:latin typeface="Inter Light"/>
              </a:rPr>
              <a:t>WHY IT MATTERS  ·  WHAT IS IN AND OUT</a:t>
            </a:r>
          </a:p>
          <a:p>
            <a:pPr algn="l">
              <a:lnSpc>
                <a:spcPct val="100000"/>
              </a:lnSpc>
              <a:spcBef>
                <a:spcPts val="0"/>
              </a:spcBef>
              <a:spcAft>
                <a:spcPts val="0"/>
              </a:spcAft>
            </a:pPr>
            <a:r>
              <a:rPr sz="4350">
                <a:solidFill>
                  <a:srgbClr val="403E3E"/>
                </a:solidFill>
                <a:latin typeface="Inter"/>
              </a:rPr>
              <a:t>Problem Statement and Scope</a:t>
            </a:r>
          </a:p>
        </p:txBody>
      </p:sp>
      <p:sp>
        <p:nvSpPr>
          <p:cNvPr id="3" name="Rectangle 2"/>
          <p:cNvSpPr/>
          <p:nvPr/>
        </p:nvSpPr>
        <p:spPr>
          <a:xfrm>
            <a:off x="822960" y="1755648"/>
            <a:ext cx="16642080" cy="18288"/>
          </a:xfrm>
          <a:prstGeom prst="rect">
            <a:avLst/>
          </a:prstGeom>
          <a:solidFill>
            <a:srgbClr val="D5D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6824960" y="9509760"/>
            <a:ext cx="640080" cy="320040"/>
          </a:xfrm>
          <a:prstGeom prst="rect">
            <a:avLst/>
          </a:prstGeom>
          <a:noFill/>
        </p:spPr>
        <p:txBody>
          <a:bodyPr wrap="square" anchor="t" lIns="0" rIns="0" tIns="0" bIns="0">
            <a:spAutoFit/>
          </a:bodyPr>
          <a:lstStyle/>
          <a:p>
            <a:pPr algn="r">
              <a:lnSpc>
                <a:spcPct val="100000"/>
              </a:lnSpc>
              <a:spcBef>
                <a:spcPts val="0"/>
              </a:spcBef>
              <a:spcAft>
                <a:spcPts val="400"/>
              </a:spcAft>
            </a:pPr>
            <a:r>
              <a:rPr sz="1300">
                <a:solidFill>
                  <a:srgbClr val="8A8684"/>
                </a:solidFill>
                <a:latin typeface="Inter Light"/>
              </a:rPr>
              <a:t>3</a:t>
            </a:r>
          </a:p>
        </p:txBody>
      </p:sp>
      <p:sp>
        <p:nvSpPr>
          <p:cNvPr id="5" name="Rectangle 4"/>
          <p:cNvSpPr/>
          <p:nvPr/>
        </p:nvSpPr>
        <p:spPr>
          <a:xfrm>
            <a:off x="822960" y="2057400"/>
            <a:ext cx="9692640" cy="2331720"/>
          </a:xfrm>
          <a:prstGeom prst="rect">
            <a:avLst/>
          </a:prstGeom>
          <a:solidFill>
            <a:srgbClr val="FDFDFA"/>
          </a:solidFill>
          <a:ln w="9144">
            <a:solidFill>
              <a:srgbClr val="D5D2C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07008" y="2386584"/>
            <a:ext cx="8924544" cy="1673351"/>
          </a:xfrm>
          <a:prstGeom prst="rect">
            <a:avLst/>
          </a:prstGeom>
          <a:noFill/>
        </p:spPr>
        <p:txBody>
          <a:bodyPr wrap="square" anchor="t" lIns="0" rIns="0" tIns="0" bIns="0">
            <a:spAutoFit/>
          </a:bodyPr>
          <a:lstStyle/>
          <a:p>
            <a:pPr algn="l">
              <a:lnSpc>
                <a:spcPct val="100000"/>
              </a:lnSpc>
              <a:spcBef>
                <a:spcPts val="0"/>
              </a:spcBef>
              <a:spcAft>
                <a:spcPts val="700"/>
              </a:spcAft>
            </a:pPr>
            <a:r>
              <a:rPr sz="2100">
                <a:solidFill>
                  <a:srgbClr val="403E3E"/>
                </a:solidFill>
                <a:latin typeface="Inter SemiBold"/>
              </a:rPr>
              <a:t>The problem, stated precisely</a:t>
            </a:r>
          </a:p>
          <a:p>
            <a:pPr algn="l">
              <a:lnSpc>
                <a:spcPct val="112000"/>
              </a:lnSpc>
              <a:spcBef>
                <a:spcPts val="0"/>
              </a:spcBef>
              <a:spcAft>
                <a:spcPts val="700"/>
              </a:spcAft>
            </a:pPr>
            <a:r>
              <a:rPr sz="1650">
                <a:solidFill>
                  <a:srgbClr val="555252"/>
                </a:solidFill>
                <a:latin typeface="Inter"/>
              </a:rPr>
              <a:t>A small aircraft carrying only one forward facing colour camera must reach a sequence of positions in a cluttered space without striking anything, using no distance sensor, no prior map and no external positioning.</a:t>
            </a:r>
          </a:p>
        </p:txBody>
      </p:sp>
      <p:sp>
        <p:nvSpPr>
          <p:cNvPr id="7" name="TextBox 6"/>
          <p:cNvSpPr txBox="1"/>
          <p:nvPr/>
        </p:nvSpPr>
        <p:spPr>
          <a:xfrm>
            <a:off x="822960" y="4709160"/>
            <a:ext cx="9692640" cy="4206240"/>
          </a:xfrm>
          <a:prstGeom prst="rect">
            <a:avLst/>
          </a:prstGeom>
          <a:noFill/>
        </p:spPr>
        <p:txBody>
          <a:bodyPr wrap="square" anchor="t" lIns="0" rIns="0" tIns="0" bIns="0">
            <a:spAutoFit/>
          </a:bodyPr>
          <a:lstStyle/>
          <a:p>
            <a:pPr>
              <a:lnSpc>
                <a:spcPct val="114000"/>
              </a:lnSpc>
              <a:spcAft>
                <a:spcPts val="1100"/>
              </a:spcAft>
            </a:pPr>
            <a:r>
              <a:rPr sz="1500">
                <a:solidFill>
                  <a:srgbClr val="8A8684"/>
                </a:solidFill>
                <a:latin typeface="Inter"/>
              </a:rPr>
              <a:t>—&gt;   </a:t>
            </a:r>
            <a:r>
              <a:rPr sz="1800">
                <a:solidFill>
                  <a:srgbClr val="555252"/>
                </a:solidFill>
                <a:latin typeface="Inter"/>
              </a:rPr>
              <a:t>Depth is predicted, not measured. A prediction can be confidently wrong and nothing in the output says when.</a:t>
            </a:r>
          </a:p>
          <a:p>
            <a:pPr>
              <a:lnSpc>
                <a:spcPct val="114000"/>
              </a:lnSpc>
              <a:spcAft>
                <a:spcPts val="1100"/>
              </a:spcAft>
            </a:pPr>
            <a:r>
              <a:rPr sz="1500">
                <a:solidFill>
                  <a:srgbClr val="8A8684"/>
                </a:solidFill>
                <a:latin typeface="Inter"/>
              </a:rPr>
              <a:t>—&gt;   </a:t>
            </a:r>
            <a:r>
              <a:rPr sz="1800">
                <a:solidFill>
                  <a:srgbClr val="555252"/>
                </a:solidFill>
                <a:latin typeface="Inter"/>
              </a:rPr>
              <a:t>The prediction has no units. It says which things are nearer, not that the wall is three metres away.</a:t>
            </a:r>
          </a:p>
          <a:p>
            <a:pPr>
              <a:lnSpc>
                <a:spcPct val="114000"/>
              </a:lnSpc>
              <a:spcAft>
                <a:spcPts val="1100"/>
              </a:spcAft>
            </a:pPr>
            <a:r>
              <a:rPr sz="1500">
                <a:solidFill>
                  <a:srgbClr val="8A8684"/>
                </a:solidFill>
                <a:latin typeface="Inter"/>
              </a:rPr>
              <a:t>—&gt;   </a:t>
            </a:r>
            <a:r>
              <a:rPr sz="1800">
                <a:solidFill>
                  <a:srgbClr val="555252"/>
                </a:solidFill>
                <a:latin typeface="Inter"/>
              </a:rPr>
              <a:t>The camera sees a wedge. A one metre wingspan sweeps a full circle. Anything that leaves the frame is invisible while the wingtip is still moving.</a:t>
            </a:r>
          </a:p>
        </p:txBody>
      </p:sp>
      <p:sp>
        <p:nvSpPr>
          <p:cNvPr id="8" name="Rectangle 7"/>
          <p:cNvSpPr/>
          <p:nvPr/>
        </p:nvSpPr>
        <p:spPr>
          <a:xfrm>
            <a:off x="11173968" y="2057400"/>
            <a:ext cx="6309360" cy="3200400"/>
          </a:xfrm>
          <a:prstGeom prst="rect">
            <a:avLst/>
          </a:prstGeom>
          <a:solidFill>
            <a:srgbClr val="FDFDFA"/>
          </a:solidFill>
          <a:ln w="9144">
            <a:solidFill>
              <a:srgbClr val="D5D2C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558016" y="2386584"/>
            <a:ext cx="5541264" cy="2542032"/>
          </a:xfrm>
          <a:prstGeom prst="rect">
            <a:avLst/>
          </a:prstGeom>
          <a:noFill/>
        </p:spPr>
        <p:txBody>
          <a:bodyPr wrap="square" anchor="t" lIns="0" rIns="0" tIns="0" bIns="0">
            <a:spAutoFit/>
          </a:bodyPr>
          <a:lstStyle/>
          <a:p>
            <a:pPr algn="l">
              <a:lnSpc>
                <a:spcPct val="100000"/>
              </a:lnSpc>
              <a:spcBef>
                <a:spcPts val="0"/>
              </a:spcBef>
              <a:spcAft>
                <a:spcPts val="700"/>
              </a:spcAft>
            </a:pPr>
            <a:r>
              <a:rPr sz="2100">
                <a:solidFill>
                  <a:srgbClr val="403E3E"/>
                </a:solidFill>
                <a:latin typeface="Inter SemiBold"/>
              </a:rPr>
              <a:t>In scope</a:t>
            </a:r>
          </a:p>
          <a:p>
            <a:pPr algn="l">
              <a:lnSpc>
                <a:spcPct val="112000"/>
              </a:lnSpc>
              <a:spcBef>
                <a:spcPts val="0"/>
              </a:spcBef>
              <a:spcAft>
                <a:spcPts val="700"/>
              </a:spcAft>
            </a:pPr>
            <a:r>
              <a:rPr sz="1550">
                <a:solidFill>
                  <a:srgbClr val="555252"/>
                </a:solidFill>
                <a:latin typeface="Inter"/>
              </a:rPr>
              <a:t>Simulation as the graded deliverable, with perfect depth available for comparison.</a:t>
            </a:r>
          </a:p>
          <a:p>
            <a:pPr algn="l">
              <a:lnSpc>
                <a:spcPct val="112000"/>
              </a:lnSpc>
              <a:spcBef>
                <a:spcPts val="0"/>
              </a:spcBef>
              <a:spcAft>
                <a:spcPts val="700"/>
              </a:spcAft>
            </a:pPr>
            <a:r>
              <a:rPr sz="1550">
                <a:solidFill>
                  <a:srgbClr val="555252"/>
                </a:solidFill>
                <a:latin typeface="Inter"/>
              </a:rPr>
              <a:t>Pretrained MiDaS used as published. No training.</a:t>
            </a:r>
          </a:p>
          <a:p>
            <a:pPr algn="l">
              <a:lnSpc>
                <a:spcPct val="112000"/>
              </a:lnSpc>
              <a:spcBef>
                <a:spcPts val="0"/>
              </a:spcBef>
              <a:spcAft>
                <a:spcPts val="700"/>
              </a:spcAft>
            </a:pPr>
            <a:r>
              <a:rPr sz="1550">
                <a:solidFill>
                  <a:srgbClr val="555252"/>
                </a:solidFill>
                <a:latin typeface="Inter"/>
              </a:rPr>
              <a:t>A transparent reactive policy with a non learned safety stop underneath.</a:t>
            </a:r>
          </a:p>
          <a:p>
            <a:pPr algn="l">
              <a:lnSpc>
                <a:spcPct val="112000"/>
              </a:lnSpc>
              <a:spcBef>
                <a:spcPts val="0"/>
              </a:spcBef>
              <a:spcAft>
                <a:spcPts val="700"/>
              </a:spcAft>
            </a:pPr>
            <a:r>
              <a:rPr sz="1550">
                <a:solidFill>
                  <a:srgbClr val="555252"/>
                </a:solidFill>
                <a:latin typeface="Inter"/>
              </a:rPr>
              <a:t>Seeded courses so every depth source is judged on identical layouts.</a:t>
            </a:r>
          </a:p>
        </p:txBody>
      </p:sp>
      <p:sp>
        <p:nvSpPr>
          <p:cNvPr id="10" name="Rectangle 9"/>
          <p:cNvSpPr/>
          <p:nvPr/>
        </p:nvSpPr>
        <p:spPr>
          <a:xfrm>
            <a:off x="11173968" y="5550408"/>
            <a:ext cx="6309360" cy="3200400"/>
          </a:xfrm>
          <a:prstGeom prst="rect">
            <a:avLst/>
          </a:prstGeom>
          <a:solidFill>
            <a:srgbClr val="40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1558016" y="5879592"/>
            <a:ext cx="5541264" cy="2542032"/>
          </a:xfrm>
          <a:prstGeom prst="rect">
            <a:avLst/>
          </a:prstGeom>
          <a:noFill/>
        </p:spPr>
        <p:txBody>
          <a:bodyPr wrap="square" anchor="t" lIns="0" rIns="0" tIns="0" bIns="0">
            <a:spAutoFit/>
          </a:bodyPr>
          <a:lstStyle/>
          <a:p>
            <a:pPr algn="l">
              <a:lnSpc>
                <a:spcPct val="100000"/>
              </a:lnSpc>
              <a:spcBef>
                <a:spcPts val="0"/>
              </a:spcBef>
              <a:spcAft>
                <a:spcPts val="700"/>
              </a:spcAft>
            </a:pPr>
            <a:r>
              <a:rPr sz="2100">
                <a:solidFill>
                  <a:srgbClr val="EFEEEC"/>
                </a:solidFill>
                <a:latin typeface="Inter SemiBold"/>
              </a:rPr>
              <a:t>Out of scope</a:t>
            </a:r>
          </a:p>
          <a:p>
            <a:pPr algn="l">
              <a:lnSpc>
                <a:spcPct val="112000"/>
              </a:lnSpc>
              <a:spcBef>
                <a:spcPts val="0"/>
              </a:spcBef>
              <a:spcAft>
                <a:spcPts val="700"/>
              </a:spcAft>
            </a:pPr>
            <a:r>
              <a:rPr sz="1550">
                <a:solidFill>
                  <a:srgbClr val="C9C6C3"/>
                </a:solidFill>
                <a:latin typeface="Inter"/>
              </a:rPr>
              <a:t>Mapping and global path planning. The planner only ever reacts to the current frame.</a:t>
            </a:r>
          </a:p>
          <a:p>
            <a:pPr algn="l">
              <a:lnSpc>
                <a:spcPct val="112000"/>
              </a:lnSpc>
              <a:spcBef>
                <a:spcPts val="0"/>
              </a:spcBef>
              <a:spcAft>
                <a:spcPts val="700"/>
              </a:spcAft>
            </a:pPr>
            <a:r>
              <a:rPr sz="1550">
                <a:solidFill>
                  <a:srgbClr val="C9C6C3"/>
                </a:solidFill>
                <a:latin typeface="Inter"/>
              </a:rPr>
              <a:t>Training a depth network from scratch.</a:t>
            </a:r>
          </a:p>
          <a:p>
            <a:pPr algn="l">
              <a:lnSpc>
                <a:spcPct val="112000"/>
              </a:lnSpc>
              <a:spcBef>
                <a:spcPts val="0"/>
              </a:spcBef>
              <a:spcAft>
                <a:spcPts val="700"/>
              </a:spcAft>
            </a:pPr>
            <a:r>
              <a:rPr sz="1550">
                <a:solidFill>
                  <a:srgbClr val="C9C6C3"/>
                </a:solidFill>
                <a:latin typeface="Inter"/>
              </a:rPr>
              <a:t>Moving obstacles.</a:t>
            </a:r>
          </a:p>
          <a:p>
            <a:pPr algn="l">
              <a:lnSpc>
                <a:spcPct val="112000"/>
              </a:lnSpc>
              <a:spcBef>
                <a:spcPts val="0"/>
              </a:spcBef>
              <a:spcAft>
                <a:spcPts val="700"/>
              </a:spcAft>
            </a:pPr>
            <a:r>
              <a:rPr sz="1550">
                <a:solidFill>
                  <a:srgbClr val="C9C6C3"/>
                </a:solidFill>
                <a:latin typeface="Inter"/>
              </a:rPr>
              <a:t>Outdoor flight, until the regulatory position is confirmed in writing.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FEEEC"/>
        </a:solidFill>
        <a:effectLst/>
      </p:bgPr>
    </p:bg>
    <p:spTree>
      <p:nvGrpSpPr>
        <p:cNvPr id="1" name=""/>
        <p:cNvGrpSpPr/>
        <p:nvPr/>
      </p:nvGrpSpPr>
      <p:grpSpPr/>
      <p:sp>
        <p:nvSpPr>
          <p:cNvPr id="2" name="TextBox 1"/>
          <p:cNvSpPr txBox="1"/>
          <p:nvPr/>
        </p:nvSpPr>
        <p:spPr>
          <a:xfrm>
            <a:off x="822960" y="576072"/>
            <a:ext cx="16733520" cy="1234440"/>
          </a:xfrm>
          <a:prstGeom prst="rect">
            <a:avLst/>
          </a:prstGeom>
          <a:noFill/>
        </p:spPr>
        <p:txBody>
          <a:bodyPr wrap="square" anchor="t" lIns="0" rIns="0" tIns="0" bIns="0">
            <a:spAutoFit/>
          </a:bodyPr>
          <a:lstStyle/>
          <a:p>
            <a:pPr algn="l">
              <a:lnSpc>
                <a:spcPct val="100000"/>
              </a:lnSpc>
              <a:spcBef>
                <a:spcPts val="0"/>
              </a:spcBef>
              <a:spcAft>
                <a:spcPts val="600"/>
              </a:spcAft>
            </a:pPr>
            <a:r>
              <a:rPr sz="1500">
                <a:solidFill>
                  <a:srgbClr val="8A8684"/>
                </a:solidFill>
                <a:latin typeface="Inter Light"/>
              </a:rPr>
              <a:t>ONE LEARNED STAGE, EVERYTHING ELSE READABLE</a:t>
            </a:r>
          </a:p>
          <a:p>
            <a:pPr algn="l">
              <a:lnSpc>
                <a:spcPct val="100000"/>
              </a:lnSpc>
              <a:spcBef>
                <a:spcPts val="0"/>
              </a:spcBef>
              <a:spcAft>
                <a:spcPts val="0"/>
              </a:spcAft>
            </a:pPr>
            <a:r>
              <a:rPr sz="4350">
                <a:solidFill>
                  <a:srgbClr val="403E3E"/>
                </a:solidFill>
                <a:latin typeface="Inter"/>
              </a:rPr>
              <a:t>Proposed AI and ML Solution</a:t>
            </a:r>
          </a:p>
        </p:txBody>
      </p:sp>
      <p:sp>
        <p:nvSpPr>
          <p:cNvPr id="3" name="Rectangle 2"/>
          <p:cNvSpPr/>
          <p:nvPr/>
        </p:nvSpPr>
        <p:spPr>
          <a:xfrm>
            <a:off x="822960" y="1755648"/>
            <a:ext cx="16642080" cy="18288"/>
          </a:xfrm>
          <a:prstGeom prst="rect">
            <a:avLst/>
          </a:prstGeom>
          <a:solidFill>
            <a:srgbClr val="D5D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6824960" y="9509760"/>
            <a:ext cx="640080" cy="320040"/>
          </a:xfrm>
          <a:prstGeom prst="rect">
            <a:avLst/>
          </a:prstGeom>
          <a:noFill/>
        </p:spPr>
        <p:txBody>
          <a:bodyPr wrap="square" anchor="t" lIns="0" rIns="0" tIns="0" bIns="0">
            <a:spAutoFit/>
          </a:bodyPr>
          <a:lstStyle/>
          <a:p>
            <a:pPr algn="r">
              <a:lnSpc>
                <a:spcPct val="100000"/>
              </a:lnSpc>
              <a:spcBef>
                <a:spcPts val="0"/>
              </a:spcBef>
              <a:spcAft>
                <a:spcPts val="400"/>
              </a:spcAft>
            </a:pPr>
            <a:r>
              <a:rPr sz="1300">
                <a:solidFill>
                  <a:srgbClr val="8A8684"/>
                </a:solidFill>
                <a:latin typeface="Inter Light"/>
              </a:rPr>
              <a:t>4</a:t>
            </a:r>
          </a:p>
        </p:txBody>
      </p:sp>
      <p:pic>
        <p:nvPicPr>
          <p:cNvPr id="5" name="Picture 4" descr="fig2_architecture.png"/>
          <p:cNvPicPr>
            <a:picLocks noChangeAspect="1"/>
          </p:cNvPicPr>
          <p:nvPr/>
        </p:nvPicPr>
        <p:blipFill>
          <a:blip r:embed="rId2"/>
          <a:stretch>
            <a:fillRect/>
          </a:stretch>
        </p:blipFill>
        <p:spPr>
          <a:xfrm>
            <a:off x="960120" y="2103120"/>
            <a:ext cx="4754880" cy="4279392"/>
          </a:xfrm>
          <a:prstGeom prst="rect">
            <a:avLst/>
          </a:prstGeom>
        </p:spPr>
      </p:pic>
      <p:sp>
        <p:nvSpPr>
          <p:cNvPr id="6" name="Rectangle 5"/>
          <p:cNvSpPr/>
          <p:nvPr/>
        </p:nvSpPr>
        <p:spPr>
          <a:xfrm>
            <a:off x="6035040" y="2057400"/>
            <a:ext cx="5577840" cy="3200400"/>
          </a:xfrm>
          <a:prstGeom prst="rect">
            <a:avLst/>
          </a:prstGeom>
          <a:solidFill>
            <a:srgbClr val="FDFDFA"/>
          </a:solidFill>
          <a:ln w="9144">
            <a:solidFill>
              <a:srgbClr val="D5D2C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419088" y="2386584"/>
            <a:ext cx="4809744" cy="2542032"/>
          </a:xfrm>
          <a:prstGeom prst="rect">
            <a:avLst/>
          </a:prstGeom>
          <a:noFill/>
        </p:spPr>
        <p:txBody>
          <a:bodyPr wrap="square" anchor="t" lIns="0" rIns="0" tIns="0" bIns="0">
            <a:spAutoFit/>
          </a:bodyPr>
          <a:lstStyle/>
          <a:p>
            <a:pPr algn="l">
              <a:lnSpc>
                <a:spcPct val="100000"/>
              </a:lnSpc>
              <a:spcBef>
                <a:spcPts val="0"/>
              </a:spcBef>
              <a:spcAft>
                <a:spcPts val="700"/>
              </a:spcAft>
            </a:pPr>
            <a:r>
              <a:rPr sz="2100">
                <a:solidFill>
                  <a:srgbClr val="403E3E"/>
                </a:solidFill>
                <a:latin typeface="Inter SemiBold"/>
              </a:rPr>
              <a:t>Uncertainty and experimentation</a:t>
            </a:r>
          </a:p>
          <a:p>
            <a:pPr algn="l">
              <a:lnSpc>
                <a:spcPct val="112000"/>
              </a:lnSpc>
              <a:spcBef>
                <a:spcPts val="0"/>
              </a:spcBef>
              <a:spcAft>
                <a:spcPts val="700"/>
              </a:spcAft>
            </a:pPr>
            <a:r>
              <a:rPr sz="1550">
                <a:solidFill>
                  <a:srgbClr val="555252"/>
                </a:solidFill>
                <a:latin typeface="Inter"/>
              </a:rPr>
              <a:t>The network returns a plausible estimate, not a guaranteed value. Two similar scenes can give different depth.</a:t>
            </a:r>
          </a:p>
          <a:p>
            <a:pPr algn="l">
              <a:lnSpc>
                <a:spcPct val="112000"/>
              </a:lnSpc>
              <a:spcBef>
                <a:spcPts val="0"/>
              </a:spcBef>
              <a:spcAft>
                <a:spcPts val="700"/>
              </a:spcAft>
            </a:pPr>
            <a:r>
              <a:rPr sz="1550">
                <a:solidFill>
                  <a:srgbClr val="555252"/>
                </a:solidFill>
                <a:latin typeface="Inter"/>
              </a:rPr>
              <a:t>So the loop is built to tolerate it. The chosen heading is smoothed over time rather than taken from the newest frame.</a:t>
            </a:r>
          </a:p>
        </p:txBody>
      </p:sp>
      <p:sp>
        <p:nvSpPr>
          <p:cNvPr id="8" name="Rectangle 7"/>
          <p:cNvSpPr/>
          <p:nvPr/>
        </p:nvSpPr>
        <p:spPr>
          <a:xfrm>
            <a:off x="6035040" y="5550408"/>
            <a:ext cx="5577840" cy="3200400"/>
          </a:xfrm>
          <a:prstGeom prst="rect">
            <a:avLst/>
          </a:prstGeom>
          <a:solidFill>
            <a:srgbClr val="FDFDFA"/>
          </a:solidFill>
          <a:ln w="9144">
            <a:solidFill>
              <a:srgbClr val="D5D2C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19088" y="5879592"/>
            <a:ext cx="4809744" cy="2542032"/>
          </a:xfrm>
          <a:prstGeom prst="rect">
            <a:avLst/>
          </a:prstGeom>
          <a:noFill/>
        </p:spPr>
        <p:txBody>
          <a:bodyPr wrap="square" anchor="t" lIns="0" rIns="0" tIns="0" bIns="0">
            <a:spAutoFit/>
          </a:bodyPr>
          <a:lstStyle/>
          <a:p>
            <a:pPr algn="l">
              <a:lnSpc>
                <a:spcPct val="100000"/>
              </a:lnSpc>
              <a:spcBef>
                <a:spcPts val="0"/>
              </a:spcBef>
              <a:spcAft>
                <a:spcPts val="700"/>
              </a:spcAft>
            </a:pPr>
            <a:r>
              <a:rPr sz="2100">
                <a:solidFill>
                  <a:srgbClr val="403E3E"/>
                </a:solidFill>
                <a:latin typeface="Inter SemiBold"/>
              </a:rPr>
              <a:t>Model evaluation</a:t>
            </a:r>
          </a:p>
          <a:p>
            <a:pPr algn="l">
              <a:lnSpc>
                <a:spcPct val="112000"/>
              </a:lnSpc>
              <a:spcBef>
                <a:spcPts val="0"/>
              </a:spcBef>
              <a:spcAft>
                <a:spcPts val="700"/>
              </a:spcAft>
            </a:pPr>
            <a:r>
              <a:rPr sz="1550">
                <a:solidFill>
                  <a:srgbClr val="555252"/>
                </a:solidFill>
                <a:latin typeface="Inter"/>
              </a:rPr>
              <a:t>Depth quality on real photographs, using NYU and KITTI, after aligning both scale and offset by least squares.</a:t>
            </a:r>
          </a:p>
          <a:p>
            <a:pPr algn="l">
              <a:lnSpc>
                <a:spcPct val="112000"/>
              </a:lnSpc>
              <a:spcBef>
                <a:spcPts val="0"/>
              </a:spcBef>
              <a:spcAft>
                <a:spcPts val="700"/>
              </a:spcAft>
            </a:pPr>
            <a:r>
              <a:rPr sz="1550">
                <a:solidFill>
                  <a:srgbClr val="555252"/>
                </a:solidFill>
                <a:latin typeface="Inter"/>
              </a:rPr>
              <a:t>Flight outcomes across many held out seeded courses, reported as distributions with a confidence interval.</a:t>
            </a:r>
          </a:p>
        </p:txBody>
      </p:sp>
      <p:sp>
        <p:nvSpPr>
          <p:cNvPr id="10" name="Rectangle 9"/>
          <p:cNvSpPr/>
          <p:nvPr/>
        </p:nvSpPr>
        <p:spPr>
          <a:xfrm>
            <a:off x="11887200" y="2057400"/>
            <a:ext cx="5577840" cy="3200400"/>
          </a:xfrm>
          <a:prstGeom prst="rect">
            <a:avLst/>
          </a:prstGeom>
          <a:solidFill>
            <a:srgbClr val="40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271248" y="2386584"/>
            <a:ext cx="4809744" cy="2542032"/>
          </a:xfrm>
          <a:prstGeom prst="rect">
            <a:avLst/>
          </a:prstGeom>
          <a:noFill/>
        </p:spPr>
        <p:txBody>
          <a:bodyPr wrap="square" anchor="t" lIns="0" rIns="0" tIns="0" bIns="0">
            <a:spAutoFit/>
          </a:bodyPr>
          <a:lstStyle/>
          <a:p>
            <a:pPr algn="l">
              <a:lnSpc>
                <a:spcPct val="100000"/>
              </a:lnSpc>
              <a:spcBef>
                <a:spcPts val="0"/>
              </a:spcBef>
              <a:spcAft>
                <a:spcPts val="700"/>
              </a:spcAft>
            </a:pPr>
            <a:r>
              <a:rPr sz="2100">
                <a:solidFill>
                  <a:srgbClr val="EFEEEC"/>
                </a:solidFill>
                <a:latin typeface="Inter SemiBold"/>
              </a:rPr>
              <a:t>Monitoring after deployment</a:t>
            </a:r>
          </a:p>
          <a:p>
            <a:pPr algn="l">
              <a:lnSpc>
                <a:spcPct val="112000"/>
              </a:lnSpc>
              <a:spcBef>
                <a:spcPts val="0"/>
              </a:spcBef>
              <a:spcAft>
                <a:spcPts val="700"/>
              </a:spcAft>
            </a:pPr>
            <a:r>
              <a:rPr sz="1550">
                <a:solidFill>
                  <a:srgbClr val="C9C6C3"/>
                </a:solidFill>
                <a:latin typeface="Inter"/>
              </a:rPr>
              <a:t>Scene statistics such as brightness and near field pixel fraction are tracked against a reference distribution.</a:t>
            </a:r>
          </a:p>
          <a:p>
            <a:pPr algn="l">
              <a:lnSpc>
                <a:spcPct val="112000"/>
              </a:lnSpc>
              <a:spcBef>
                <a:spcPts val="0"/>
              </a:spcBef>
              <a:spcAft>
                <a:spcPts val="700"/>
              </a:spcAft>
            </a:pPr>
            <a:r>
              <a:rPr sz="1550">
                <a:solidFill>
                  <a:srgbClr val="C9C6C3"/>
                </a:solidFill>
                <a:latin typeface="Inter"/>
              </a:rPr>
              <a:t>Drift lowers the speed and raises the stop distance. Less confidence must always produce more caution.</a:t>
            </a:r>
          </a:p>
        </p:txBody>
      </p:sp>
      <p:sp>
        <p:nvSpPr>
          <p:cNvPr id="12" name="Rectangle 11"/>
          <p:cNvSpPr/>
          <p:nvPr/>
        </p:nvSpPr>
        <p:spPr>
          <a:xfrm>
            <a:off x="11887200" y="5550408"/>
            <a:ext cx="5577840" cy="3200400"/>
          </a:xfrm>
          <a:prstGeom prst="rect">
            <a:avLst/>
          </a:prstGeom>
          <a:solidFill>
            <a:srgbClr val="40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271248" y="5879592"/>
            <a:ext cx="4809744" cy="2542032"/>
          </a:xfrm>
          <a:prstGeom prst="rect">
            <a:avLst/>
          </a:prstGeom>
          <a:noFill/>
        </p:spPr>
        <p:txBody>
          <a:bodyPr wrap="square" anchor="t" lIns="0" rIns="0" tIns="0" bIns="0">
            <a:spAutoFit/>
          </a:bodyPr>
          <a:lstStyle/>
          <a:p>
            <a:pPr algn="l">
              <a:lnSpc>
                <a:spcPct val="100000"/>
              </a:lnSpc>
              <a:spcBef>
                <a:spcPts val="0"/>
              </a:spcBef>
              <a:spcAft>
                <a:spcPts val="700"/>
              </a:spcAft>
            </a:pPr>
            <a:r>
              <a:rPr sz="2100">
                <a:solidFill>
                  <a:srgbClr val="EFEEEC"/>
                </a:solidFill>
                <a:latin typeface="Inter SemiBold"/>
              </a:rPr>
              <a:t>Retraining when conditions change</a:t>
            </a:r>
          </a:p>
          <a:p>
            <a:pPr algn="l">
              <a:lnSpc>
                <a:spcPct val="112000"/>
              </a:lnSpc>
              <a:spcBef>
                <a:spcPts val="0"/>
              </a:spcBef>
              <a:spcAft>
                <a:spcPts val="700"/>
              </a:spcAft>
            </a:pPr>
            <a:r>
              <a:rPr sz="1550">
                <a:solidFill>
                  <a:srgbClr val="C9C6C3"/>
                </a:solidFill>
                <a:latin typeface="Inter"/>
              </a:rPr>
              <a:t>Deliberately a second line response, never the first.</a:t>
            </a:r>
          </a:p>
          <a:p>
            <a:pPr algn="l">
              <a:lnSpc>
                <a:spcPct val="112000"/>
              </a:lnSpc>
              <a:spcBef>
                <a:spcPts val="0"/>
              </a:spcBef>
              <a:spcAft>
                <a:spcPts val="700"/>
              </a:spcAft>
            </a:pPr>
            <a:r>
              <a:rPr sz="1550">
                <a:solidFill>
                  <a:srgbClr val="C9C6C3"/>
                </a:solidFill>
                <a:latin typeface="Inter"/>
              </a:rPr>
              <a:t>Light adaptation to new scenes must pass the simulation quality gate before it is promoted. Slowing down is safer than a fresh model nobody has tested.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FEEEC"/>
        </a:solidFill>
        <a:effectLst/>
      </p:bgPr>
    </p:bg>
    <p:spTree>
      <p:nvGrpSpPr>
        <p:cNvPr id="1" name=""/>
        <p:cNvGrpSpPr/>
        <p:nvPr/>
      </p:nvGrpSpPr>
      <p:grpSpPr/>
      <p:sp>
        <p:nvSpPr>
          <p:cNvPr id="2" name="TextBox 1"/>
          <p:cNvSpPr txBox="1"/>
          <p:nvPr/>
        </p:nvSpPr>
        <p:spPr>
          <a:xfrm>
            <a:off x="822960" y="576072"/>
            <a:ext cx="16733520" cy="1234440"/>
          </a:xfrm>
          <a:prstGeom prst="rect">
            <a:avLst/>
          </a:prstGeom>
          <a:noFill/>
        </p:spPr>
        <p:txBody>
          <a:bodyPr wrap="square" anchor="t" lIns="0" rIns="0" tIns="0" bIns="0">
            <a:spAutoFit/>
          </a:bodyPr>
          <a:lstStyle/>
          <a:p>
            <a:pPr algn="l">
              <a:lnSpc>
                <a:spcPct val="100000"/>
              </a:lnSpc>
              <a:spcBef>
                <a:spcPts val="0"/>
              </a:spcBef>
              <a:spcAft>
                <a:spcPts val="600"/>
              </a:spcAft>
            </a:pPr>
            <a:r>
              <a:rPr sz="1500">
                <a:solidFill>
                  <a:srgbClr val="8A8684"/>
                </a:solidFill>
                <a:latin typeface="Inter Light"/>
              </a:rPr>
              <a:t>PROBLEM TO MONITORING, WITH THE LOOPS THAT MATTER</a:t>
            </a:r>
          </a:p>
          <a:p>
            <a:pPr algn="l">
              <a:lnSpc>
                <a:spcPct val="100000"/>
              </a:lnSpc>
              <a:spcBef>
                <a:spcPts val="0"/>
              </a:spcBef>
              <a:spcAft>
                <a:spcPts val="0"/>
              </a:spcAft>
            </a:pPr>
            <a:r>
              <a:rPr sz="4350">
                <a:solidFill>
                  <a:srgbClr val="403E3E"/>
                </a:solidFill>
                <a:latin typeface="Inter"/>
              </a:rPr>
              <a:t>Life Cycle and ML Pipeline</a:t>
            </a:r>
          </a:p>
        </p:txBody>
      </p:sp>
      <p:sp>
        <p:nvSpPr>
          <p:cNvPr id="3" name="Rectangle 2"/>
          <p:cNvSpPr/>
          <p:nvPr/>
        </p:nvSpPr>
        <p:spPr>
          <a:xfrm>
            <a:off x="822960" y="1755648"/>
            <a:ext cx="16642080" cy="18288"/>
          </a:xfrm>
          <a:prstGeom prst="rect">
            <a:avLst/>
          </a:prstGeom>
          <a:solidFill>
            <a:srgbClr val="D5D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6824960" y="9509760"/>
            <a:ext cx="640080" cy="320040"/>
          </a:xfrm>
          <a:prstGeom prst="rect">
            <a:avLst/>
          </a:prstGeom>
          <a:noFill/>
        </p:spPr>
        <p:txBody>
          <a:bodyPr wrap="square" anchor="t" lIns="0" rIns="0" tIns="0" bIns="0">
            <a:spAutoFit/>
          </a:bodyPr>
          <a:lstStyle/>
          <a:p>
            <a:pPr algn="r">
              <a:lnSpc>
                <a:spcPct val="100000"/>
              </a:lnSpc>
              <a:spcBef>
                <a:spcPts val="0"/>
              </a:spcBef>
              <a:spcAft>
                <a:spcPts val="400"/>
              </a:spcAft>
            </a:pPr>
            <a:r>
              <a:rPr sz="1300">
                <a:solidFill>
                  <a:srgbClr val="8A8684"/>
                </a:solidFill>
                <a:latin typeface="Inter Light"/>
              </a:rPr>
              <a:t>5</a:t>
            </a:r>
          </a:p>
        </p:txBody>
      </p:sp>
      <p:pic>
        <p:nvPicPr>
          <p:cNvPr id="5" name="Picture 4" descr="fig1_lifecycle.png"/>
          <p:cNvPicPr>
            <a:picLocks noChangeAspect="1"/>
          </p:cNvPicPr>
          <p:nvPr/>
        </p:nvPicPr>
        <p:blipFill>
          <a:blip r:embed="rId2"/>
          <a:stretch>
            <a:fillRect/>
          </a:stretch>
        </p:blipFill>
        <p:spPr>
          <a:xfrm>
            <a:off x="914400" y="2011680"/>
            <a:ext cx="5120640" cy="4437888"/>
          </a:xfrm>
          <a:prstGeom prst="rect">
            <a:avLst/>
          </a:prstGeom>
        </p:spPr>
      </p:pic>
      <p:sp>
        <p:nvSpPr>
          <p:cNvPr id="6" name="Rectangle 5"/>
          <p:cNvSpPr/>
          <p:nvPr/>
        </p:nvSpPr>
        <p:spPr>
          <a:xfrm>
            <a:off x="6400800" y="2057400"/>
            <a:ext cx="5212080" cy="3200400"/>
          </a:xfrm>
          <a:prstGeom prst="rect">
            <a:avLst/>
          </a:prstGeom>
          <a:solidFill>
            <a:srgbClr val="FDFDFA"/>
          </a:solidFill>
          <a:ln w="9144">
            <a:solidFill>
              <a:srgbClr val="D5D2C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784848" y="2386584"/>
            <a:ext cx="4443984" cy="2542032"/>
          </a:xfrm>
          <a:prstGeom prst="rect">
            <a:avLst/>
          </a:prstGeom>
          <a:noFill/>
        </p:spPr>
        <p:txBody>
          <a:bodyPr wrap="square" anchor="t" lIns="0" rIns="0" tIns="0" bIns="0">
            <a:spAutoFit/>
          </a:bodyPr>
          <a:lstStyle/>
          <a:p>
            <a:pPr algn="l">
              <a:lnSpc>
                <a:spcPct val="100000"/>
              </a:lnSpc>
              <a:spcBef>
                <a:spcPts val="0"/>
              </a:spcBef>
              <a:spcAft>
                <a:spcPts val="700"/>
              </a:spcAft>
            </a:pPr>
            <a:r>
              <a:rPr sz="2100">
                <a:solidFill>
                  <a:srgbClr val="403E3E"/>
                </a:solidFill>
                <a:latin typeface="Inter SemiBold"/>
              </a:rPr>
              <a:t>The two feedback loops</a:t>
            </a:r>
          </a:p>
          <a:p>
            <a:pPr algn="l">
              <a:lnSpc>
                <a:spcPct val="112000"/>
              </a:lnSpc>
              <a:spcBef>
                <a:spcPts val="0"/>
              </a:spcBef>
              <a:spcAft>
                <a:spcPts val="700"/>
              </a:spcAft>
            </a:pPr>
            <a:r>
              <a:rPr sz="1550">
                <a:solidFill>
                  <a:srgbClr val="555252"/>
                </a:solidFill>
                <a:latin typeface="Inter"/>
              </a:rPr>
              <a:t>Evaluation back to data and model. Poor ablation results send work to perception, not to the steering logic.</a:t>
            </a:r>
          </a:p>
          <a:p>
            <a:pPr algn="l">
              <a:lnSpc>
                <a:spcPct val="112000"/>
              </a:lnSpc>
              <a:spcBef>
                <a:spcPts val="0"/>
              </a:spcBef>
              <a:spcAft>
                <a:spcPts val="700"/>
              </a:spcAft>
            </a:pPr>
            <a:r>
              <a:rPr sz="1550">
                <a:solidFill>
                  <a:srgbClr val="555252"/>
                </a:solidFill>
                <a:latin typeface="Inter"/>
              </a:rPr>
              <a:t>Monitoring back to scoping. If scenes stop resembling development, the problem has moved even though nothing broke.</a:t>
            </a:r>
          </a:p>
        </p:txBody>
      </p:sp>
      <p:sp>
        <p:nvSpPr>
          <p:cNvPr id="8" name="Rectangle 7"/>
          <p:cNvSpPr/>
          <p:nvPr/>
        </p:nvSpPr>
        <p:spPr>
          <a:xfrm>
            <a:off x="6400800" y="5550408"/>
            <a:ext cx="5212080" cy="3200400"/>
          </a:xfrm>
          <a:prstGeom prst="rect">
            <a:avLst/>
          </a:prstGeom>
          <a:solidFill>
            <a:srgbClr val="FDFDFA"/>
          </a:solidFill>
          <a:ln w="9144">
            <a:solidFill>
              <a:srgbClr val="D5D2C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784848" y="5879592"/>
            <a:ext cx="4443984" cy="2542032"/>
          </a:xfrm>
          <a:prstGeom prst="rect">
            <a:avLst/>
          </a:prstGeom>
          <a:noFill/>
        </p:spPr>
        <p:txBody>
          <a:bodyPr wrap="square" anchor="t" lIns="0" rIns="0" tIns="0" bIns="0">
            <a:spAutoFit/>
          </a:bodyPr>
          <a:lstStyle/>
          <a:p>
            <a:pPr algn="l">
              <a:lnSpc>
                <a:spcPct val="100000"/>
              </a:lnSpc>
              <a:spcBef>
                <a:spcPts val="0"/>
              </a:spcBef>
              <a:spcAft>
                <a:spcPts val="700"/>
              </a:spcAft>
            </a:pPr>
            <a:r>
              <a:rPr sz="2100">
                <a:solidFill>
                  <a:srgbClr val="403E3E"/>
                </a:solidFill>
                <a:latin typeface="Inter SemiBold"/>
              </a:rPr>
              <a:t>We have already used loop one</a:t>
            </a:r>
          </a:p>
          <a:p>
            <a:pPr algn="l">
              <a:lnSpc>
                <a:spcPct val="112000"/>
              </a:lnSpc>
              <a:spcBef>
                <a:spcPts val="0"/>
              </a:spcBef>
              <a:spcAft>
                <a:spcPts val="700"/>
              </a:spcAft>
            </a:pPr>
            <a:r>
              <a:rPr sz="1550">
                <a:solidFill>
                  <a:srgbClr val="555252"/>
                </a:solidFill>
                <a:latin typeface="Inter"/>
              </a:rPr>
              <a:t>An early evaluation had the aircraft barely moving.</a:t>
            </a:r>
          </a:p>
          <a:p>
            <a:pPr algn="l">
              <a:lnSpc>
                <a:spcPct val="112000"/>
              </a:lnSpc>
              <a:spcBef>
                <a:spcPts val="0"/>
              </a:spcBef>
              <a:spcAft>
                <a:spcPts val="700"/>
              </a:spcAft>
            </a:pPr>
            <a:r>
              <a:rPr sz="1550">
                <a:solidFill>
                  <a:srgbClr val="555252"/>
                </a:solidFill>
                <a:latin typeface="Inter"/>
              </a:rPr>
              <a:t>The lineage record traced it to feature creation. Per column distance included the floor, so every direction read the same and the policy could not tell open space from an obstacle.</a:t>
            </a:r>
          </a:p>
        </p:txBody>
      </p:sp>
      <p:sp>
        <p:nvSpPr>
          <p:cNvPr id="10" name="Rectangle 9"/>
          <p:cNvSpPr/>
          <p:nvPr/>
        </p:nvSpPr>
        <p:spPr>
          <a:xfrm>
            <a:off x="11887200" y="2057400"/>
            <a:ext cx="5577840" cy="3200400"/>
          </a:xfrm>
          <a:prstGeom prst="rect">
            <a:avLst/>
          </a:prstGeom>
          <a:solidFill>
            <a:srgbClr val="FDFDFA"/>
          </a:solidFill>
          <a:ln w="9144">
            <a:solidFill>
              <a:srgbClr val="D5D2C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271248" y="2386584"/>
            <a:ext cx="4809744" cy="2542032"/>
          </a:xfrm>
          <a:prstGeom prst="rect">
            <a:avLst/>
          </a:prstGeom>
          <a:noFill/>
        </p:spPr>
        <p:txBody>
          <a:bodyPr wrap="square" anchor="t" lIns="0" rIns="0" tIns="0" bIns="0">
            <a:spAutoFit/>
          </a:bodyPr>
          <a:lstStyle/>
          <a:p>
            <a:pPr algn="l">
              <a:lnSpc>
                <a:spcPct val="100000"/>
              </a:lnSpc>
              <a:spcBef>
                <a:spcPts val="0"/>
              </a:spcBef>
              <a:spcAft>
                <a:spcPts val="700"/>
              </a:spcAft>
            </a:pPr>
            <a:r>
              <a:rPr sz="2100">
                <a:solidFill>
                  <a:srgbClr val="403E3E"/>
                </a:solidFill>
                <a:latin typeface="Inter SemiBold"/>
              </a:rPr>
              <a:t>Automated pipeline stages</a:t>
            </a:r>
          </a:p>
          <a:p>
            <a:pPr algn="l">
              <a:lnSpc>
                <a:spcPct val="112000"/>
              </a:lnSpc>
              <a:spcBef>
                <a:spcPts val="0"/>
              </a:spcBef>
              <a:spcAft>
                <a:spcPts val="700"/>
              </a:spcAft>
            </a:pPr>
            <a:r>
              <a:rPr sz="1500">
                <a:solidFill>
                  <a:srgbClr val="555252"/>
                </a:solidFill>
                <a:latin typeface="Inter"/>
              </a:rPr>
              <a:t>Course generation from seeds, and frame export.</a:t>
            </a:r>
          </a:p>
          <a:p>
            <a:pPr algn="l">
              <a:lnSpc>
                <a:spcPct val="112000"/>
              </a:lnSpc>
              <a:spcBef>
                <a:spcPts val="0"/>
              </a:spcBef>
              <a:spcAft>
                <a:spcPts val="700"/>
              </a:spcAft>
            </a:pPr>
            <a:r>
              <a:rPr sz="1500">
                <a:solidFill>
                  <a:srgbClr val="555252"/>
                </a:solidFill>
                <a:latin typeface="Inter"/>
              </a:rPr>
              <a:t>Depth benchmarking and per seed flight scoring.</a:t>
            </a:r>
          </a:p>
          <a:p>
            <a:pPr algn="l">
              <a:lnSpc>
                <a:spcPct val="112000"/>
              </a:lnSpc>
              <a:spcBef>
                <a:spcPts val="0"/>
              </a:spcBef>
              <a:spcAft>
                <a:spcPts val="700"/>
              </a:spcAft>
            </a:pPr>
            <a:r>
              <a:rPr sz="1500">
                <a:solidFill>
                  <a:srgbClr val="555252"/>
                </a:solidFill>
                <a:latin typeface="Inter"/>
              </a:rPr>
              <a:t>Policy parameter search and drift comparison.</a:t>
            </a:r>
          </a:p>
          <a:p>
            <a:pPr algn="l">
              <a:lnSpc>
                <a:spcPct val="112000"/>
              </a:lnSpc>
              <a:spcBef>
                <a:spcPts val="0"/>
              </a:spcBef>
              <a:spcAft>
                <a:spcPts val="700"/>
              </a:spcAft>
            </a:pPr>
            <a:r>
              <a:rPr sz="1500">
                <a:solidFill>
                  <a:srgbClr val="555252"/>
                </a:solidFill>
                <a:latin typeface="Inter"/>
              </a:rPr>
              <a:t>The quality gate before a change is accepted.</a:t>
            </a:r>
          </a:p>
        </p:txBody>
      </p:sp>
      <p:sp>
        <p:nvSpPr>
          <p:cNvPr id="12" name="Rectangle 11"/>
          <p:cNvSpPr/>
          <p:nvPr/>
        </p:nvSpPr>
        <p:spPr>
          <a:xfrm>
            <a:off x="11887200" y="5550408"/>
            <a:ext cx="5577840" cy="3200400"/>
          </a:xfrm>
          <a:prstGeom prst="rect">
            <a:avLst/>
          </a:prstGeom>
          <a:solidFill>
            <a:srgbClr val="40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271248" y="5879592"/>
            <a:ext cx="4809744" cy="2542032"/>
          </a:xfrm>
          <a:prstGeom prst="rect">
            <a:avLst/>
          </a:prstGeom>
          <a:noFill/>
        </p:spPr>
        <p:txBody>
          <a:bodyPr wrap="square" anchor="t" lIns="0" rIns="0" tIns="0" bIns="0">
            <a:spAutoFit/>
          </a:bodyPr>
          <a:lstStyle/>
          <a:p>
            <a:pPr algn="l">
              <a:lnSpc>
                <a:spcPct val="100000"/>
              </a:lnSpc>
              <a:spcBef>
                <a:spcPts val="0"/>
              </a:spcBef>
              <a:spcAft>
                <a:spcPts val="700"/>
              </a:spcAft>
            </a:pPr>
            <a:r>
              <a:rPr sz="2100">
                <a:solidFill>
                  <a:srgbClr val="EFEEEC"/>
                </a:solidFill>
                <a:latin typeface="Inter SemiBold"/>
              </a:rPr>
              <a:t>Human judgement and accountability</a:t>
            </a:r>
          </a:p>
          <a:p>
            <a:pPr algn="l">
              <a:lnSpc>
                <a:spcPct val="112000"/>
              </a:lnSpc>
              <a:spcBef>
                <a:spcPts val="0"/>
              </a:spcBef>
              <a:spcAft>
                <a:spcPts val="700"/>
              </a:spcAft>
            </a:pPr>
            <a:r>
              <a:rPr sz="1500">
                <a:solidFill>
                  <a:srgbClr val="C9C6C3"/>
                </a:solidFill>
                <a:latin typeface="Inter"/>
              </a:rPr>
              <a:t>What density is a fair test, not a flattering one.</a:t>
            </a:r>
          </a:p>
          <a:p>
            <a:pPr algn="l">
              <a:lnSpc>
                <a:spcPct val="112000"/>
              </a:lnSpc>
              <a:spcBef>
                <a:spcPts val="0"/>
              </a:spcBef>
              <a:spcAft>
                <a:spcPts val="700"/>
              </a:spcAft>
            </a:pPr>
            <a:r>
              <a:rPr sz="1500">
                <a:solidFill>
                  <a:srgbClr val="C9C6C3"/>
                </a:solidFill>
                <a:latin typeface="Inter"/>
              </a:rPr>
              <a:t>Which seeds are held back, fixed before results.</a:t>
            </a:r>
          </a:p>
          <a:p>
            <a:pPr algn="l">
              <a:lnSpc>
                <a:spcPct val="112000"/>
              </a:lnSpc>
              <a:spcBef>
                <a:spcPts val="0"/>
              </a:spcBef>
              <a:spcAft>
                <a:spcPts val="700"/>
              </a:spcAft>
            </a:pPr>
            <a:r>
              <a:rPr sz="1500">
                <a:solidFill>
                  <a:srgbClr val="C9C6C3"/>
                </a:solidFill>
                <a:latin typeface="Inter"/>
              </a:rPr>
              <a:t>What accuracy justifies flying at all.</a:t>
            </a:r>
          </a:p>
          <a:p>
            <a:pPr algn="l">
              <a:lnSpc>
                <a:spcPct val="112000"/>
              </a:lnSpc>
              <a:spcBef>
                <a:spcPts val="0"/>
              </a:spcBef>
              <a:spcAft>
                <a:spcPts val="700"/>
              </a:spcAft>
            </a:pPr>
            <a:r>
              <a:rPr sz="1500">
                <a:solidFill>
                  <a:srgbClr val="C9C6C3"/>
                </a:solidFill>
                <a:latin typeface="Inter"/>
              </a:rPr>
              <a:t>That it is fit to fly near people.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FEEEC"/>
        </a:solidFill>
        <a:effectLst/>
      </p:bgPr>
    </p:bg>
    <p:spTree>
      <p:nvGrpSpPr>
        <p:cNvPr id="1" name=""/>
        <p:cNvGrpSpPr/>
        <p:nvPr/>
      </p:nvGrpSpPr>
      <p:grpSpPr/>
      <p:sp>
        <p:nvSpPr>
          <p:cNvPr id="2" name="TextBox 1"/>
          <p:cNvSpPr txBox="1"/>
          <p:nvPr/>
        </p:nvSpPr>
        <p:spPr>
          <a:xfrm>
            <a:off x="822960" y="576072"/>
            <a:ext cx="16733520" cy="1234440"/>
          </a:xfrm>
          <a:prstGeom prst="rect">
            <a:avLst/>
          </a:prstGeom>
          <a:noFill/>
        </p:spPr>
        <p:txBody>
          <a:bodyPr wrap="square" anchor="t" lIns="0" rIns="0" tIns="0" bIns="0">
            <a:spAutoFit/>
          </a:bodyPr>
          <a:lstStyle/>
          <a:p>
            <a:pPr algn="l">
              <a:lnSpc>
                <a:spcPct val="100000"/>
              </a:lnSpc>
              <a:spcBef>
                <a:spcPts val="0"/>
              </a:spcBef>
              <a:spcAft>
                <a:spcPts val="600"/>
              </a:spcAft>
            </a:pPr>
            <a:r>
              <a:rPr sz="1500">
                <a:solidFill>
                  <a:srgbClr val="8A8684"/>
                </a:solidFill>
                <a:latin typeface="Inter Light"/>
              </a:rPr>
              <a:t>CRISP-DM  ·  TDSP  ·  GOOGLE ML</a:t>
            </a:r>
          </a:p>
          <a:p>
            <a:pPr algn="l">
              <a:lnSpc>
                <a:spcPct val="100000"/>
              </a:lnSpc>
              <a:spcBef>
                <a:spcPts val="0"/>
              </a:spcBef>
              <a:spcAft>
                <a:spcPts val="0"/>
              </a:spcAft>
            </a:pPr>
            <a:r>
              <a:rPr sz="4350">
                <a:solidFill>
                  <a:srgbClr val="403E3E"/>
                </a:solidFill>
                <a:latin typeface="Inter"/>
              </a:rPr>
              <a:t>Comparing Life Cycle Frameworks</a:t>
            </a:r>
          </a:p>
        </p:txBody>
      </p:sp>
      <p:sp>
        <p:nvSpPr>
          <p:cNvPr id="3" name="Rectangle 2"/>
          <p:cNvSpPr/>
          <p:nvPr/>
        </p:nvSpPr>
        <p:spPr>
          <a:xfrm>
            <a:off x="822960" y="1755648"/>
            <a:ext cx="16642080" cy="18288"/>
          </a:xfrm>
          <a:prstGeom prst="rect">
            <a:avLst/>
          </a:prstGeom>
          <a:solidFill>
            <a:srgbClr val="D5D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6824960" y="9509760"/>
            <a:ext cx="640080" cy="320040"/>
          </a:xfrm>
          <a:prstGeom prst="rect">
            <a:avLst/>
          </a:prstGeom>
          <a:noFill/>
        </p:spPr>
        <p:txBody>
          <a:bodyPr wrap="square" anchor="t" lIns="0" rIns="0" tIns="0" bIns="0">
            <a:spAutoFit/>
          </a:bodyPr>
          <a:lstStyle/>
          <a:p>
            <a:pPr algn="r">
              <a:lnSpc>
                <a:spcPct val="100000"/>
              </a:lnSpc>
              <a:spcBef>
                <a:spcPts val="0"/>
              </a:spcBef>
              <a:spcAft>
                <a:spcPts val="400"/>
              </a:spcAft>
            </a:pPr>
            <a:r>
              <a:rPr sz="1300">
                <a:solidFill>
                  <a:srgbClr val="8A8684"/>
                </a:solidFill>
                <a:latin typeface="Inter Light"/>
              </a:rPr>
              <a:t>6</a:t>
            </a:r>
          </a:p>
        </p:txBody>
      </p:sp>
      <p:graphicFrame>
        <p:nvGraphicFramePr>
          <p:cNvPr id="5" name="Table 4"/>
          <p:cNvGraphicFramePr>
            <a:graphicFrameLocks noGrp="1"/>
          </p:cNvGraphicFramePr>
          <p:nvPr/>
        </p:nvGraphicFramePr>
        <p:xfrm>
          <a:off x="822960" y="2057400"/>
          <a:ext cx="10972800" cy="4206240"/>
        </p:xfrm>
        <a:graphic>
          <a:graphicData uri="http://schemas.openxmlformats.org/drawingml/2006/table">
            <a:tbl>
              <a:tblPr firstRow="1" bandRow="1">
                <a:tableStyleId>{5C22544A-7EE6-4342-B048-85BDC9FD1C3A}</a:tableStyleId>
              </a:tblPr>
              <a:tblGrid>
                <a:gridCol w="2011680"/>
                <a:gridCol w="2926080"/>
                <a:gridCol w="2926080"/>
                <a:gridCol w="3108960"/>
              </a:tblGrid>
              <a:tr h="701040">
                <a:tc>
                  <a:txBody>
                    <a:bodyPr wrap="square"/>
                    <a:lstStyle/>
                    <a:p>
                      <a:pPr>
                        <a:spcAft>
                          <a:spcPts val="0"/>
                        </a:spcAft>
                      </a:pPr>
                      <a:r>
                        <a:rPr sz="1400">
                          <a:solidFill>
                            <a:srgbClr val="EFEEEC"/>
                          </a:solidFill>
                          <a:latin typeface="Inter SemiBold"/>
                        </a:rPr>
                        <a:t>Aspect</a:t>
                      </a:r>
                    </a:p>
                  </a:txBody>
                  <a:tcPr marL="109728" marR="109728" marT="64008" marB="64008" anchor="ctr">
                    <a:solidFill>
                      <a:srgbClr val="403E3E"/>
                    </a:solidFill>
                  </a:tcPr>
                </a:tc>
                <a:tc>
                  <a:txBody>
                    <a:bodyPr wrap="square"/>
                    <a:lstStyle/>
                    <a:p>
                      <a:pPr>
                        <a:spcAft>
                          <a:spcPts val="0"/>
                        </a:spcAft>
                      </a:pPr>
                      <a:r>
                        <a:rPr sz="1400">
                          <a:solidFill>
                            <a:srgbClr val="EFEEEC"/>
                          </a:solidFill>
                          <a:latin typeface="Inter SemiBold"/>
                        </a:rPr>
                        <a:t>CRISP-DM</a:t>
                      </a:r>
                    </a:p>
                  </a:txBody>
                  <a:tcPr marL="109728" marR="109728" marT="64008" marB="64008" anchor="ctr">
                    <a:solidFill>
                      <a:srgbClr val="403E3E"/>
                    </a:solidFill>
                  </a:tcPr>
                </a:tc>
                <a:tc>
                  <a:txBody>
                    <a:bodyPr wrap="square"/>
                    <a:lstStyle/>
                    <a:p>
                      <a:pPr>
                        <a:spcAft>
                          <a:spcPts val="0"/>
                        </a:spcAft>
                      </a:pPr>
                      <a:r>
                        <a:rPr sz="1400">
                          <a:solidFill>
                            <a:srgbClr val="EFEEEC"/>
                          </a:solidFill>
                          <a:latin typeface="Inter SemiBold"/>
                        </a:rPr>
                        <a:t>Microsoft TDSP</a:t>
                      </a:r>
                    </a:p>
                  </a:txBody>
                  <a:tcPr marL="109728" marR="109728" marT="64008" marB="64008" anchor="ctr">
                    <a:solidFill>
                      <a:srgbClr val="403E3E"/>
                    </a:solidFill>
                  </a:tcPr>
                </a:tc>
                <a:tc>
                  <a:txBody>
                    <a:bodyPr wrap="square"/>
                    <a:lstStyle/>
                    <a:p>
                      <a:pPr>
                        <a:spcAft>
                          <a:spcPts val="0"/>
                        </a:spcAft>
                      </a:pPr>
                      <a:r>
                        <a:rPr sz="1400">
                          <a:solidFill>
                            <a:srgbClr val="EFEEEC"/>
                          </a:solidFill>
                          <a:latin typeface="Inter SemiBold"/>
                        </a:rPr>
                        <a:t>Google ML Life Cycle</a:t>
                      </a:r>
                    </a:p>
                  </a:txBody>
                  <a:tcPr marL="109728" marR="109728" marT="64008" marB="64008" anchor="ctr">
                    <a:solidFill>
                      <a:srgbClr val="403E3E"/>
                    </a:solidFill>
                  </a:tcPr>
                </a:tc>
              </a:tr>
              <a:tr h="701040">
                <a:tc>
                  <a:txBody>
                    <a:bodyPr wrap="square"/>
                    <a:lstStyle/>
                    <a:p>
                      <a:pPr>
                        <a:lnSpc>
                          <a:spcPct val="108000"/>
                        </a:lnSpc>
                        <a:spcAft>
                          <a:spcPts val="0"/>
                        </a:spcAft>
                      </a:pPr>
                      <a:r>
                        <a:rPr sz="1250">
                          <a:solidFill>
                            <a:srgbClr val="555252"/>
                          </a:solidFill>
                          <a:latin typeface="Inter"/>
                        </a:rPr>
                        <a:t>Primary emphasis</a:t>
                      </a:r>
                    </a:p>
                  </a:txBody>
                  <a:tcPr marL="109728" marR="109728" marT="54864" marB="54864" anchor="t">
                    <a:solidFill>
                      <a:srgbClr val="FDFDFA"/>
                    </a:solidFill>
                  </a:tcPr>
                </a:tc>
                <a:tc>
                  <a:txBody>
                    <a:bodyPr wrap="square"/>
                    <a:lstStyle/>
                    <a:p>
                      <a:pPr>
                        <a:lnSpc>
                          <a:spcPct val="108000"/>
                        </a:lnSpc>
                        <a:spcAft>
                          <a:spcPts val="0"/>
                        </a:spcAft>
                      </a:pPr>
                      <a:r>
                        <a:rPr sz="1250">
                          <a:solidFill>
                            <a:srgbClr val="555252"/>
                          </a:solidFill>
                          <a:latin typeface="Inter"/>
                        </a:rPr>
                        <a:t>Understanding the problem through iteration</a:t>
                      </a:r>
                    </a:p>
                  </a:txBody>
                  <a:tcPr marL="109728" marR="109728" marT="54864" marB="54864" anchor="t">
                    <a:solidFill>
                      <a:srgbClr val="FDFDFA"/>
                    </a:solidFill>
                  </a:tcPr>
                </a:tc>
                <a:tc>
                  <a:txBody>
                    <a:bodyPr wrap="square"/>
                    <a:lstStyle/>
                    <a:p>
                      <a:pPr>
                        <a:lnSpc>
                          <a:spcPct val="108000"/>
                        </a:lnSpc>
                        <a:spcAft>
                          <a:spcPts val="0"/>
                        </a:spcAft>
                      </a:pPr>
                      <a:r>
                        <a:rPr sz="1250">
                          <a:solidFill>
                            <a:srgbClr val="555252"/>
                          </a:solidFill>
                          <a:latin typeface="Inter"/>
                        </a:rPr>
                        <a:t>Roles, deliverables and repeatable team process</a:t>
                      </a:r>
                    </a:p>
                  </a:txBody>
                  <a:tcPr marL="109728" marR="109728" marT="54864" marB="54864" anchor="t">
                    <a:solidFill>
                      <a:srgbClr val="FDFDFA"/>
                    </a:solidFill>
                  </a:tcPr>
                </a:tc>
                <a:tc>
                  <a:txBody>
                    <a:bodyPr wrap="square"/>
                    <a:lstStyle/>
                    <a:p>
                      <a:pPr>
                        <a:lnSpc>
                          <a:spcPct val="108000"/>
                        </a:lnSpc>
                        <a:spcAft>
                          <a:spcPts val="0"/>
                        </a:spcAft>
                      </a:pPr>
                      <a:r>
                        <a:rPr sz="1250">
                          <a:solidFill>
                            <a:srgbClr val="555252"/>
                          </a:solidFill>
                          <a:latin typeface="Inter"/>
                        </a:rPr>
                        <a:t>Production serving and continuous operation</a:t>
                      </a:r>
                    </a:p>
                  </a:txBody>
                  <a:tcPr marL="109728" marR="109728" marT="54864" marB="54864" anchor="t">
                    <a:solidFill>
                      <a:srgbClr val="FDFDFA"/>
                    </a:solidFill>
                  </a:tcPr>
                </a:tc>
              </a:tr>
              <a:tr h="701040">
                <a:tc>
                  <a:txBody>
                    <a:bodyPr wrap="square"/>
                    <a:lstStyle/>
                    <a:p>
                      <a:pPr>
                        <a:lnSpc>
                          <a:spcPct val="108000"/>
                        </a:lnSpc>
                        <a:spcAft>
                          <a:spcPts val="0"/>
                        </a:spcAft>
                      </a:pPr>
                      <a:r>
                        <a:rPr sz="1250">
                          <a:solidFill>
                            <a:srgbClr val="555252"/>
                          </a:solidFill>
                          <a:latin typeface="Inter"/>
                        </a:rPr>
                        <a:t>Data work</a:t>
                      </a:r>
                    </a:p>
                  </a:txBody>
                  <a:tcPr marL="109728" marR="109728" marT="54864" marB="54864" anchor="t">
                    <a:solidFill>
                      <a:srgbClr val="EFEEEC"/>
                    </a:solidFill>
                  </a:tcPr>
                </a:tc>
                <a:tc>
                  <a:txBody>
                    <a:bodyPr wrap="square"/>
                    <a:lstStyle/>
                    <a:p>
                      <a:pPr>
                        <a:lnSpc>
                          <a:spcPct val="108000"/>
                        </a:lnSpc>
                        <a:spcAft>
                          <a:spcPts val="0"/>
                        </a:spcAft>
                      </a:pPr>
                      <a:r>
                        <a:rPr sz="1250">
                          <a:solidFill>
                            <a:srgbClr val="555252"/>
                          </a:solidFill>
                          <a:latin typeface="Inter"/>
                        </a:rPr>
                        <a:t>Central, with its own phase and explicit rework</a:t>
                      </a:r>
                    </a:p>
                  </a:txBody>
                  <a:tcPr marL="109728" marR="109728" marT="54864" marB="54864" anchor="t">
                    <a:solidFill>
                      <a:srgbClr val="EFEEEC"/>
                    </a:solidFill>
                  </a:tcPr>
                </a:tc>
                <a:tc>
                  <a:txBody>
                    <a:bodyPr wrap="square"/>
                    <a:lstStyle/>
                    <a:p>
                      <a:pPr>
                        <a:lnSpc>
                          <a:spcPct val="108000"/>
                        </a:lnSpc>
                        <a:spcAft>
                          <a:spcPts val="0"/>
                        </a:spcAft>
                      </a:pPr>
                      <a:r>
                        <a:rPr sz="1250">
                          <a:solidFill>
                            <a:srgbClr val="555252"/>
                          </a:solidFill>
                          <a:latin typeface="Inter"/>
                        </a:rPr>
                        <a:t>Structured acquisition with a documented manifest</a:t>
                      </a:r>
                    </a:p>
                  </a:txBody>
                  <a:tcPr marL="109728" marR="109728" marT="54864" marB="54864" anchor="t">
                    <a:solidFill>
                      <a:srgbClr val="EFEEEC"/>
                    </a:solidFill>
                  </a:tcPr>
                </a:tc>
                <a:tc>
                  <a:txBody>
                    <a:bodyPr wrap="square"/>
                    <a:lstStyle/>
                    <a:p>
                      <a:pPr>
                        <a:lnSpc>
                          <a:spcPct val="108000"/>
                        </a:lnSpc>
                        <a:spcAft>
                          <a:spcPts val="0"/>
                        </a:spcAft>
                      </a:pPr>
                      <a:r>
                        <a:rPr sz="1250">
                          <a:solidFill>
                            <a:srgbClr val="555252"/>
                          </a:solidFill>
                          <a:latin typeface="Inter"/>
                        </a:rPr>
                        <a:t>Automated validation and transformation</a:t>
                      </a:r>
                    </a:p>
                  </a:txBody>
                  <a:tcPr marL="109728" marR="109728" marT="54864" marB="54864" anchor="t">
                    <a:solidFill>
                      <a:srgbClr val="EFEEEC"/>
                    </a:solidFill>
                  </a:tcPr>
                </a:tc>
              </a:tr>
              <a:tr h="701040">
                <a:tc>
                  <a:txBody>
                    <a:bodyPr wrap="square"/>
                    <a:lstStyle/>
                    <a:p>
                      <a:pPr>
                        <a:lnSpc>
                          <a:spcPct val="108000"/>
                        </a:lnSpc>
                        <a:spcAft>
                          <a:spcPts val="0"/>
                        </a:spcAft>
                      </a:pPr>
                      <a:r>
                        <a:rPr sz="1250">
                          <a:solidFill>
                            <a:srgbClr val="555252"/>
                          </a:solidFill>
                          <a:latin typeface="Inter"/>
                        </a:rPr>
                        <a:t>Operation</a:t>
                      </a:r>
                    </a:p>
                  </a:txBody>
                  <a:tcPr marL="109728" marR="109728" marT="54864" marB="54864" anchor="t">
                    <a:solidFill>
                      <a:srgbClr val="FDFDFA"/>
                    </a:solidFill>
                  </a:tcPr>
                </a:tc>
                <a:tc>
                  <a:txBody>
                    <a:bodyPr wrap="square"/>
                    <a:lstStyle/>
                    <a:p>
                      <a:pPr>
                        <a:lnSpc>
                          <a:spcPct val="108000"/>
                        </a:lnSpc>
                        <a:spcAft>
                          <a:spcPts val="0"/>
                        </a:spcAft>
                      </a:pPr>
                      <a:r>
                        <a:rPr sz="1250">
                          <a:solidFill>
                            <a:srgbClr val="555252"/>
                          </a:solidFill>
                          <a:latin typeface="Inter"/>
                        </a:rPr>
                        <a:t>Ends at deployment</a:t>
                      </a:r>
                    </a:p>
                  </a:txBody>
                  <a:tcPr marL="109728" marR="109728" marT="54864" marB="54864" anchor="t">
                    <a:solidFill>
                      <a:srgbClr val="FDFDFA"/>
                    </a:solidFill>
                  </a:tcPr>
                </a:tc>
                <a:tc>
                  <a:txBody>
                    <a:bodyPr wrap="square"/>
                    <a:lstStyle/>
                    <a:p>
                      <a:pPr>
                        <a:lnSpc>
                          <a:spcPct val="108000"/>
                        </a:lnSpc>
                        <a:spcAft>
                          <a:spcPts val="0"/>
                        </a:spcAft>
                      </a:pPr>
                      <a:r>
                        <a:rPr sz="1250">
                          <a:solidFill>
                            <a:srgbClr val="555252"/>
                          </a:solidFill>
                          <a:latin typeface="Inter"/>
                        </a:rPr>
                        <a:t>Ends at customer acceptance</a:t>
                      </a:r>
                    </a:p>
                  </a:txBody>
                  <a:tcPr marL="109728" marR="109728" marT="54864" marB="54864" anchor="t">
                    <a:solidFill>
                      <a:srgbClr val="FDFDFA"/>
                    </a:solidFill>
                  </a:tcPr>
                </a:tc>
                <a:tc>
                  <a:txBody>
                    <a:bodyPr wrap="square"/>
                    <a:lstStyle/>
                    <a:p>
                      <a:pPr>
                        <a:lnSpc>
                          <a:spcPct val="108000"/>
                        </a:lnSpc>
                        <a:spcAft>
                          <a:spcPts val="0"/>
                        </a:spcAft>
                      </a:pPr>
                      <a:r>
                        <a:rPr sz="1250">
                          <a:solidFill>
                            <a:srgbClr val="555252"/>
                          </a:solidFill>
                          <a:latin typeface="Inter"/>
                        </a:rPr>
                        <a:t>Assumes a running system with retraining</a:t>
                      </a:r>
                    </a:p>
                  </a:txBody>
                  <a:tcPr marL="109728" marR="109728" marT="54864" marB="54864" anchor="t">
                    <a:solidFill>
                      <a:srgbClr val="FDFDFA"/>
                    </a:solidFill>
                  </a:tcPr>
                </a:tc>
              </a:tr>
              <a:tr h="701040">
                <a:tc>
                  <a:txBody>
                    <a:bodyPr wrap="square"/>
                    <a:lstStyle/>
                    <a:p>
                      <a:pPr>
                        <a:lnSpc>
                          <a:spcPct val="108000"/>
                        </a:lnSpc>
                        <a:spcAft>
                          <a:spcPts val="0"/>
                        </a:spcAft>
                      </a:pPr>
                      <a:r>
                        <a:rPr sz="1250">
                          <a:solidFill>
                            <a:srgbClr val="555252"/>
                          </a:solidFill>
                          <a:latin typeface="Inter"/>
                        </a:rPr>
                        <a:t>Automation and pipeline</a:t>
                      </a:r>
                    </a:p>
                  </a:txBody>
                  <a:tcPr marL="109728" marR="109728" marT="54864" marB="54864" anchor="t">
                    <a:solidFill>
                      <a:srgbClr val="EFEEEC"/>
                    </a:solidFill>
                  </a:tcPr>
                </a:tc>
                <a:tc>
                  <a:txBody>
                    <a:bodyPr wrap="square"/>
                    <a:lstStyle/>
                    <a:p>
                      <a:pPr>
                        <a:lnSpc>
                          <a:spcPct val="108000"/>
                        </a:lnSpc>
                        <a:spcAft>
                          <a:spcPts val="0"/>
                        </a:spcAft>
                      </a:pPr>
                      <a:r>
                        <a:rPr sz="1250">
                          <a:solidFill>
                            <a:srgbClr val="555252"/>
                          </a:solidFill>
                          <a:latin typeface="Inter"/>
                        </a:rPr>
                        <a:t>Little. The cycle is human driven</a:t>
                      </a:r>
                    </a:p>
                  </a:txBody>
                  <a:tcPr marL="109728" marR="109728" marT="54864" marB="54864" anchor="t">
                    <a:solidFill>
                      <a:srgbClr val="EFEEEC"/>
                    </a:solidFill>
                  </a:tcPr>
                </a:tc>
                <a:tc>
                  <a:txBody>
                    <a:bodyPr wrap="square"/>
                    <a:lstStyle/>
                    <a:p>
                      <a:pPr>
                        <a:lnSpc>
                          <a:spcPct val="108000"/>
                        </a:lnSpc>
                        <a:spcAft>
                          <a:spcPts val="0"/>
                        </a:spcAft>
                      </a:pPr>
                      <a:r>
                        <a:rPr sz="1250">
                          <a:solidFill>
                            <a:srgbClr val="555252"/>
                          </a:solidFill>
                          <a:latin typeface="Inter"/>
                        </a:rPr>
                        <a:t>Moderate, through templates and reports</a:t>
                      </a:r>
                    </a:p>
                  </a:txBody>
                  <a:tcPr marL="109728" marR="109728" marT="54864" marB="54864" anchor="t">
                    <a:solidFill>
                      <a:srgbClr val="EFEEEC"/>
                    </a:solidFill>
                  </a:tcPr>
                </a:tc>
                <a:tc>
                  <a:txBody>
                    <a:bodyPr wrap="square"/>
                    <a:lstStyle/>
                    <a:p>
                      <a:pPr>
                        <a:lnSpc>
                          <a:spcPct val="108000"/>
                        </a:lnSpc>
                        <a:spcAft>
                          <a:spcPts val="0"/>
                        </a:spcAft>
                      </a:pPr>
                      <a:r>
                        <a:rPr sz="1250">
                          <a:solidFill>
                            <a:srgbClr val="555252"/>
                          </a:solidFill>
                          <a:latin typeface="Inter"/>
                        </a:rPr>
                        <a:t>Strong. The pipeline is the unit of work</a:t>
                      </a:r>
                    </a:p>
                  </a:txBody>
                  <a:tcPr marL="109728" marR="109728" marT="54864" marB="54864" anchor="t">
                    <a:solidFill>
                      <a:srgbClr val="EFEEEC"/>
                    </a:solidFill>
                  </a:tcPr>
                </a:tc>
              </a:tr>
              <a:tr h="701040">
                <a:tc>
                  <a:txBody>
                    <a:bodyPr wrap="square"/>
                    <a:lstStyle/>
                    <a:p>
                      <a:pPr>
                        <a:lnSpc>
                          <a:spcPct val="108000"/>
                        </a:lnSpc>
                        <a:spcAft>
                          <a:spcPts val="0"/>
                        </a:spcAft>
                      </a:pPr>
                      <a:r>
                        <a:rPr sz="1250">
                          <a:solidFill>
                            <a:srgbClr val="555252"/>
                          </a:solidFill>
                          <a:latin typeface="Inter"/>
                        </a:rPr>
                        <a:t>Team collaboration</a:t>
                      </a:r>
                    </a:p>
                  </a:txBody>
                  <a:tcPr marL="109728" marR="109728" marT="54864" marB="54864" anchor="t">
                    <a:solidFill>
                      <a:srgbClr val="FDFDFA"/>
                    </a:solidFill>
                  </a:tcPr>
                </a:tc>
                <a:tc>
                  <a:txBody>
                    <a:bodyPr wrap="square"/>
                    <a:lstStyle/>
                    <a:p>
                      <a:pPr>
                        <a:lnSpc>
                          <a:spcPct val="108000"/>
                        </a:lnSpc>
                        <a:spcAft>
                          <a:spcPts val="0"/>
                        </a:spcAft>
                      </a:pPr>
                      <a:r>
                        <a:rPr sz="1250">
                          <a:solidFill>
                            <a:srgbClr val="555252"/>
                          </a:solidFill>
                          <a:latin typeface="Inter"/>
                        </a:rPr>
                        <a:t>Light, no prescribed roles</a:t>
                      </a:r>
                    </a:p>
                  </a:txBody>
                  <a:tcPr marL="109728" marR="109728" marT="54864" marB="54864" anchor="t">
                    <a:solidFill>
                      <a:srgbClr val="FDFDFA"/>
                    </a:solidFill>
                  </a:tcPr>
                </a:tc>
                <a:tc>
                  <a:txBody>
                    <a:bodyPr wrap="square"/>
                    <a:lstStyle/>
                    <a:p>
                      <a:pPr>
                        <a:lnSpc>
                          <a:spcPct val="108000"/>
                        </a:lnSpc>
                        <a:spcAft>
                          <a:spcPts val="0"/>
                        </a:spcAft>
                      </a:pPr>
                      <a:r>
                        <a:rPr sz="1250">
                          <a:solidFill>
                            <a:srgbClr val="555252"/>
                          </a:solidFill>
                          <a:latin typeface="Inter"/>
                        </a:rPr>
                        <a:t>Explicit named owner per deliverable</a:t>
                      </a:r>
                    </a:p>
                  </a:txBody>
                  <a:tcPr marL="109728" marR="109728" marT="54864" marB="54864" anchor="t">
                    <a:solidFill>
                      <a:srgbClr val="FDFDFA"/>
                    </a:solidFill>
                  </a:tcPr>
                </a:tc>
                <a:tc>
                  <a:txBody>
                    <a:bodyPr wrap="square"/>
                    <a:lstStyle/>
                    <a:p>
                      <a:pPr>
                        <a:lnSpc>
                          <a:spcPct val="108000"/>
                        </a:lnSpc>
                        <a:spcAft>
                          <a:spcPts val="0"/>
                        </a:spcAft>
                      </a:pPr>
                      <a:r>
                        <a:rPr sz="1250">
                          <a:solidFill>
                            <a:srgbClr val="555252"/>
                          </a:solidFill>
                          <a:latin typeface="Inter"/>
                        </a:rPr>
                        <a:t>Assumes a platform team already exists</a:t>
                      </a:r>
                    </a:p>
                  </a:txBody>
                  <a:tcPr marL="109728" marR="109728" marT="54864" marB="54864" anchor="t">
                    <a:solidFill>
                      <a:srgbClr val="FDFDFA"/>
                    </a:solidFill>
                  </a:tcPr>
                </a:tc>
              </a:tr>
            </a:tbl>
          </a:graphicData>
        </a:graphic>
      </p:graphicFrame>
      <p:sp>
        <p:nvSpPr>
          <p:cNvPr id="6" name="Rectangle 5"/>
          <p:cNvSpPr/>
          <p:nvPr/>
        </p:nvSpPr>
        <p:spPr>
          <a:xfrm>
            <a:off x="12252960" y="2057400"/>
            <a:ext cx="5212080" cy="3200400"/>
          </a:xfrm>
          <a:prstGeom prst="rect">
            <a:avLst/>
          </a:prstGeom>
          <a:solidFill>
            <a:srgbClr val="FDFDFA"/>
          </a:solidFill>
          <a:ln w="9144">
            <a:solidFill>
              <a:srgbClr val="D5D2C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637008" y="2386584"/>
            <a:ext cx="4443984" cy="2542032"/>
          </a:xfrm>
          <a:prstGeom prst="rect">
            <a:avLst/>
          </a:prstGeom>
          <a:noFill/>
        </p:spPr>
        <p:txBody>
          <a:bodyPr wrap="square" anchor="t" lIns="0" rIns="0" tIns="0" bIns="0">
            <a:spAutoFit/>
          </a:bodyPr>
          <a:lstStyle/>
          <a:p>
            <a:pPr algn="l">
              <a:lnSpc>
                <a:spcPct val="100000"/>
              </a:lnSpc>
              <a:spcBef>
                <a:spcPts val="0"/>
              </a:spcBef>
              <a:spcAft>
                <a:spcPts val="700"/>
              </a:spcAft>
            </a:pPr>
            <a:r>
              <a:rPr sz="2100">
                <a:solidFill>
                  <a:srgbClr val="403E3E"/>
                </a:solidFill>
                <a:latin typeface="Inter SemiBold"/>
              </a:rPr>
              <a:t>Best fit for this project</a:t>
            </a:r>
          </a:p>
          <a:p>
            <a:pPr algn="l">
              <a:lnSpc>
                <a:spcPct val="112000"/>
              </a:lnSpc>
              <a:spcBef>
                <a:spcPts val="0"/>
              </a:spcBef>
              <a:spcAft>
                <a:spcPts val="700"/>
              </a:spcAft>
            </a:pPr>
            <a:r>
              <a:rPr sz="1550">
                <a:solidFill>
                  <a:srgbClr val="555252"/>
                </a:solidFill>
                <a:latin typeface="Inter"/>
              </a:rPr>
              <a:t>CRISP-DM. Our work is investigative. We do not know in advance how much performance is lost when measured depth is replaced by predicted depth.</a:t>
            </a:r>
          </a:p>
          <a:p>
            <a:pPr algn="l">
              <a:lnSpc>
                <a:spcPct val="112000"/>
              </a:lnSpc>
              <a:spcBef>
                <a:spcPts val="0"/>
              </a:spcBef>
              <a:spcAft>
                <a:spcPts val="700"/>
              </a:spcAft>
            </a:pPr>
            <a:r>
              <a:rPr sz="1550">
                <a:solidFill>
                  <a:srgbClr val="555252"/>
                </a:solidFill>
                <a:latin typeface="Inter"/>
              </a:rPr>
              <a:t>It expects evaluation to send work back, which is exactly what happened to us.</a:t>
            </a:r>
          </a:p>
        </p:txBody>
      </p:sp>
      <p:sp>
        <p:nvSpPr>
          <p:cNvPr id="8" name="Rectangle 7"/>
          <p:cNvSpPr/>
          <p:nvPr/>
        </p:nvSpPr>
        <p:spPr>
          <a:xfrm>
            <a:off x="12252960" y="5550408"/>
            <a:ext cx="5212080" cy="3200400"/>
          </a:xfrm>
          <a:prstGeom prst="rect">
            <a:avLst/>
          </a:prstGeom>
          <a:solidFill>
            <a:srgbClr val="40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637008" y="5879592"/>
            <a:ext cx="4443984" cy="2542032"/>
          </a:xfrm>
          <a:prstGeom prst="rect">
            <a:avLst/>
          </a:prstGeom>
          <a:noFill/>
        </p:spPr>
        <p:txBody>
          <a:bodyPr wrap="square" anchor="t" lIns="0" rIns="0" tIns="0" bIns="0">
            <a:spAutoFit/>
          </a:bodyPr>
          <a:lstStyle/>
          <a:p>
            <a:pPr algn="l">
              <a:lnSpc>
                <a:spcPct val="100000"/>
              </a:lnSpc>
              <a:spcBef>
                <a:spcPts val="0"/>
              </a:spcBef>
              <a:spcAft>
                <a:spcPts val="700"/>
              </a:spcAft>
            </a:pPr>
            <a:r>
              <a:rPr sz="2100">
                <a:solidFill>
                  <a:srgbClr val="EFEEEC"/>
                </a:solidFill>
                <a:latin typeface="Inter SemiBold"/>
              </a:rPr>
              <a:t>Framework selection</a:t>
            </a:r>
          </a:p>
          <a:p>
            <a:pPr algn="l">
              <a:lnSpc>
                <a:spcPct val="112000"/>
              </a:lnSpc>
              <a:spcBef>
                <a:spcPts val="0"/>
              </a:spcBef>
              <a:spcAft>
                <a:spcPts val="700"/>
              </a:spcAft>
            </a:pPr>
            <a:r>
              <a:rPr sz="1550">
                <a:solidFill>
                  <a:srgbClr val="C9C6C3"/>
                </a:solidFill>
                <a:latin typeface="Inter"/>
              </a:rPr>
              <a:t>CRISP-DM sets the shape of the work. Google pipeline discipline applies to anything that runs more than once.</a:t>
            </a:r>
          </a:p>
          <a:p>
            <a:pPr algn="l">
              <a:lnSpc>
                <a:spcPct val="112000"/>
              </a:lnSpc>
              <a:spcBef>
                <a:spcPts val="0"/>
              </a:spcBef>
              <a:spcAft>
                <a:spcPts val="700"/>
              </a:spcAft>
            </a:pPr>
            <a:r>
              <a:rPr sz="1550">
                <a:solidFill>
                  <a:srgbClr val="C9C6C3"/>
                </a:solidFill>
                <a:latin typeface="Inter"/>
              </a:rPr>
              <a:t>TDSP contributes only its named owner per deliverable. Its customer acceptance stage assumes a client we do not have.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FEEEC"/>
        </a:solidFill>
        <a:effectLst/>
      </p:bgPr>
    </p:bg>
    <p:spTree>
      <p:nvGrpSpPr>
        <p:cNvPr id="1" name=""/>
        <p:cNvGrpSpPr/>
        <p:nvPr/>
      </p:nvGrpSpPr>
      <p:grpSpPr/>
      <p:sp>
        <p:nvSpPr>
          <p:cNvPr id="2" name="TextBox 1"/>
          <p:cNvSpPr txBox="1"/>
          <p:nvPr/>
        </p:nvSpPr>
        <p:spPr>
          <a:xfrm>
            <a:off x="822960" y="576072"/>
            <a:ext cx="16733520" cy="1234440"/>
          </a:xfrm>
          <a:prstGeom prst="rect">
            <a:avLst/>
          </a:prstGeom>
          <a:noFill/>
        </p:spPr>
        <p:txBody>
          <a:bodyPr wrap="square" anchor="t" lIns="0" rIns="0" tIns="0" bIns="0">
            <a:spAutoFit/>
          </a:bodyPr>
          <a:lstStyle/>
          <a:p>
            <a:pPr algn="l">
              <a:lnSpc>
                <a:spcPct val="100000"/>
              </a:lnSpc>
              <a:spcBef>
                <a:spcPts val="0"/>
              </a:spcBef>
              <a:spcAft>
                <a:spcPts val="600"/>
              </a:spcAft>
            </a:pPr>
            <a:r>
              <a:rPr sz="1500">
                <a:solidFill>
                  <a:srgbClr val="8A8684"/>
                </a:solidFill>
                <a:latin typeface="Inter Light"/>
              </a:rPr>
              <a:t>TESTED, NOT ASSERTED</a:t>
            </a:r>
          </a:p>
          <a:p>
            <a:pPr algn="l">
              <a:lnSpc>
                <a:spcPct val="100000"/>
              </a:lnSpc>
              <a:spcBef>
                <a:spcPts val="0"/>
              </a:spcBef>
              <a:spcAft>
                <a:spcPts val="0"/>
              </a:spcAft>
            </a:pPr>
            <a:r>
              <a:rPr sz="4350">
                <a:solidFill>
                  <a:srgbClr val="403E3E"/>
                </a:solidFill>
                <a:latin typeface="Inter"/>
              </a:rPr>
              <a:t>Technical Feasibility</a:t>
            </a:r>
          </a:p>
        </p:txBody>
      </p:sp>
      <p:sp>
        <p:nvSpPr>
          <p:cNvPr id="3" name="Rectangle 2"/>
          <p:cNvSpPr/>
          <p:nvPr/>
        </p:nvSpPr>
        <p:spPr>
          <a:xfrm>
            <a:off x="822960" y="1755648"/>
            <a:ext cx="16642080" cy="18288"/>
          </a:xfrm>
          <a:prstGeom prst="rect">
            <a:avLst/>
          </a:prstGeom>
          <a:solidFill>
            <a:srgbClr val="D5D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6824960" y="9509760"/>
            <a:ext cx="640080" cy="320040"/>
          </a:xfrm>
          <a:prstGeom prst="rect">
            <a:avLst/>
          </a:prstGeom>
          <a:noFill/>
        </p:spPr>
        <p:txBody>
          <a:bodyPr wrap="square" anchor="t" lIns="0" rIns="0" tIns="0" bIns="0">
            <a:spAutoFit/>
          </a:bodyPr>
          <a:lstStyle/>
          <a:p>
            <a:pPr algn="r">
              <a:lnSpc>
                <a:spcPct val="100000"/>
              </a:lnSpc>
              <a:spcBef>
                <a:spcPts val="0"/>
              </a:spcBef>
              <a:spcAft>
                <a:spcPts val="400"/>
              </a:spcAft>
            </a:pPr>
            <a:r>
              <a:rPr sz="1300">
                <a:solidFill>
                  <a:srgbClr val="8A8684"/>
                </a:solidFill>
                <a:latin typeface="Inter Light"/>
              </a:rPr>
              <a:t>7</a:t>
            </a:r>
          </a:p>
        </p:txBody>
      </p:sp>
      <p:graphicFrame>
        <p:nvGraphicFramePr>
          <p:cNvPr id="5" name="Table 4"/>
          <p:cNvGraphicFramePr>
            <a:graphicFrameLocks noGrp="1"/>
          </p:cNvGraphicFramePr>
          <p:nvPr/>
        </p:nvGraphicFramePr>
        <p:xfrm>
          <a:off x="822960" y="2057400"/>
          <a:ext cx="10972800" cy="5120640"/>
        </p:xfrm>
        <a:graphic>
          <a:graphicData uri="http://schemas.openxmlformats.org/drawingml/2006/table">
            <a:tbl>
              <a:tblPr firstRow="1" bandRow="1">
                <a:tableStyleId>{5C22544A-7EE6-4342-B048-85BDC9FD1C3A}</a:tableStyleId>
              </a:tblPr>
              <a:tblGrid>
                <a:gridCol w="1737360"/>
                <a:gridCol w="3200400"/>
                <a:gridCol w="2926080"/>
                <a:gridCol w="3108960"/>
              </a:tblGrid>
              <a:tr h="853440">
                <a:tc>
                  <a:txBody>
                    <a:bodyPr wrap="square"/>
                    <a:lstStyle/>
                    <a:p>
                      <a:pPr>
                        <a:spcAft>
                          <a:spcPts val="0"/>
                        </a:spcAft>
                      </a:pPr>
                      <a:r>
                        <a:rPr sz="1400">
                          <a:solidFill>
                            <a:srgbClr val="EFEEEC"/>
                          </a:solidFill>
                          <a:latin typeface="Inter SemiBold"/>
                        </a:rPr>
                        <a:t>Aspect</a:t>
                      </a:r>
                    </a:p>
                  </a:txBody>
                  <a:tcPr marL="109728" marR="109728" marT="64008" marB="64008" anchor="ctr">
                    <a:solidFill>
                      <a:srgbClr val="403E3E"/>
                    </a:solidFill>
                  </a:tcPr>
                </a:tc>
                <a:tc>
                  <a:txBody>
                    <a:bodyPr wrap="square"/>
                    <a:lstStyle/>
                    <a:p>
                      <a:pPr>
                        <a:spcAft>
                          <a:spcPts val="0"/>
                        </a:spcAft>
                      </a:pPr>
                      <a:r>
                        <a:rPr sz="1400">
                          <a:solidFill>
                            <a:srgbClr val="EFEEEC"/>
                          </a:solidFill>
                          <a:latin typeface="Inter SemiBold"/>
                        </a:rPr>
                        <a:t>Project analysis</a:t>
                      </a:r>
                    </a:p>
                  </a:txBody>
                  <a:tcPr marL="109728" marR="109728" marT="64008" marB="64008" anchor="ctr">
                    <a:solidFill>
                      <a:srgbClr val="403E3E"/>
                    </a:solidFill>
                  </a:tcPr>
                </a:tc>
                <a:tc>
                  <a:txBody>
                    <a:bodyPr wrap="square"/>
                    <a:lstStyle/>
                    <a:p>
                      <a:pPr>
                        <a:spcAft>
                          <a:spcPts val="0"/>
                        </a:spcAft>
                      </a:pPr>
                      <a:r>
                        <a:rPr sz="1400">
                          <a:solidFill>
                            <a:srgbClr val="EFEEEC"/>
                          </a:solidFill>
                          <a:latin typeface="Inter SemiBold"/>
                        </a:rPr>
                        <a:t>Risk</a:t>
                      </a:r>
                    </a:p>
                  </a:txBody>
                  <a:tcPr marL="109728" marR="109728" marT="64008" marB="64008" anchor="ctr">
                    <a:solidFill>
                      <a:srgbClr val="403E3E"/>
                    </a:solidFill>
                  </a:tcPr>
                </a:tc>
                <a:tc>
                  <a:txBody>
                    <a:bodyPr wrap="square"/>
                    <a:lstStyle/>
                    <a:p>
                      <a:pPr>
                        <a:spcAft>
                          <a:spcPts val="0"/>
                        </a:spcAft>
                      </a:pPr>
                      <a:r>
                        <a:rPr sz="1400">
                          <a:solidFill>
                            <a:srgbClr val="EFEEEC"/>
                          </a:solidFill>
                          <a:latin typeface="Inter SemiBold"/>
                        </a:rPr>
                        <a:t>Mitigation</a:t>
                      </a:r>
                    </a:p>
                  </a:txBody>
                  <a:tcPr marL="109728" marR="109728" marT="64008" marB="64008" anchor="ctr">
                    <a:solidFill>
                      <a:srgbClr val="403E3E"/>
                    </a:solidFill>
                  </a:tcPr>
                </a:tc>
              </a:tr>
              <a:tr h="853440">
                <a:tc>
                  <a:txBody>
                    <a:bodyPr wrap="square"/>
                    <a:lstStyle/>
                    <a:p>
                      <a:pPr>
                        <a:lnSpc>
                          <a:spcPct val="108000"/>
                        </a:lnSpc>
                        <a:spcAft>
                          <a:spcPts val="0"/>
                        </a:spcAft>
                      </a:pPr>
                      <a:r>
                        <a:rPr sz="1250">
                          <a:solidFill>
                            <a:srgbClr val="555252"/>
                          </a:solidFill>
                          <a:latin typeface="Inter"/>
                        </a:rPr>
                        <a:t>Data sufficiency</a:t>
                      </a:r>
                    </a:p>
                  </a:txBody>
                  <a:tcPr marL="109728" marR="109728" marT="54864" marB="54864" anchor="t">
                    <a:solidFill>
                      <a:srgbClr val="FDFDFA"/>
                    </a:solidFill>
                  </a:tcPr>
                </a:tc>
                <a:tc>
                  <a:txBody>
                    <a:bodyPr wrap="square"/>
                    <a:lstStyle/>
                    <a:p>
                      <a:pPr>
                        <a:lnSpc>
                          <a:spcPct val="108000"/>
                        </a:lnSpc>
                        <a:spcAft>
                          <a:spcPts val="0"/>
                        </a:spcAft>
                      </a:pPr>
                      <a:r>
                        <a:rPr sz="1250">
                          <a:solidFill>
                            <a:srgbClr val="555252"/>
                          </a:solidFill>
                          <a:latin typeface="Inter"/>
                        </a:rPr>
                        <a:t>No training data needed. The simulator gives exact depth free</a:t>
                      </a:r>
                    </a:p>
                  </a:txBody>
                  <a:tcPr marL="109728" marR="109728" marT="54864" marB="54864" anchor="t">
                    <a:solidFill>
                      <a:srgbClr val="FDFDFA"/>
                    </a:solidFill>
                  </a:tcPr>
                </a:tc>
                <a:tc>
                  <a:txBody>
                    <a:bodyPr wrap="square"/>
                    <a:lstStyle/>
                    <a:p>
                      <a:pPr>
                        <a:lnSpc>
                          <a:spcPct val="108000"/>
                        </a:lnSpc>
                        <a:spcAft>
                          <a:spcPts val="0"/>
                        </a:spcAft>
                      </a:pPr>
                      <a:r>
                        <a:rPr sz="1250">
                          <a:solidFill>
                            <a:srgbClr val="555252"/>
                          </a:solidFill>
                          <a:latin typeface="Inter"/>
                        </a:rPr>
                        <a:t>Simulator imagery is cleaner than photographs</a:t>
                      </a:r>
                    </a:p>
                  </a:txBody>
                  <a:tcPr marL="109728" marR="109728" marT="54864" marB="54864" anchor="t">
                    <a:solidFill>
                      <a:srgbClr val="FDFDFA"/>
                    </a:solidFill>
                  </a:tcPr>
                </a:tc>
                <a:tc>
                  <a:txBody>
                    <a:bodyPr wrap="square"/>
                    <a:lstStyle/>
                    <a:p>
                      <a:pPr>
                        <a:lnSpc>
                          <a:spcPct val="108000"/>
                        </a:lnSpc>
                        <a:spcAft>
                          <a:spcPts val="0"/>
                        </a:spcAft>
                      </a:pPr>
                      <a:r>
                        <a:rPr sz="1250">
                          <a:solidFill>
                            <a:srgbClr val="555252"/>
                          </a:solidFill>
                          <a:latin typeface="Inter"/>
                        </a:rPr>
                        <a:t>Report benchmark accuracy on real images alongside</a:t>
                      </a:r>
                    </a:p>
                  </a:txBody>
                  <a:tcPr marL="109728" marR="109728" marT="54864" marB="54864" anchor="t">
                    <a:solidFill>
                      <a:srgbClr val="FDFDFA"/>
                    </a:solidFill>
                  </a:tcPr>
                </a:tc>
              </a:tr>
              <a:tr h="853440">
                <a:tc>
                  <a:txBody>
                    <a:bodyPr wrap="square"/>
                    <a:lstStyle/>
                    <a:p>
                      <a:pPr>
                        <a:lnSpc>
                          <a:spcPct val="108000"/>
                        </a:lnSpc>
                        <a:spcAft>
                          <a:spcPts val="0"/>
                        </a:spcAft>
                      </a:pPr>
                      <a:r>
                        <a:rPr sz="1250">
                          <a:solidFill>
                            <a:srgbClr val="555252"/>
                          </a:solidFill>
                          <a:latin typeface="Inter"/>
                        </a:rPr>
                        <a:t>Model capability</a:t>
                      </a:r>
                    </a:p>
                  </a:txBody>
                  <a:tcPr marL="109728" marR="109728" marT="54864" marB="54864" anchor="t">
                    <a:solidFill>
                      <a:srgbClr val="EFEEEC"/>
                    </a:solidFill>
                  </a:tcPr>
                </a:tc>
                <a:tc>
                  <a:txBody>
                    <a:bodyPr wrap="square"/>
                    <a:lstStyle/>
                    <a:p>
                      <a:pPr>
                        <a:lnSpc>
                          <a:spcPct val="108000"/>
                        </a:lnSpc>
                        <a:spcAft>
                          <a:spcPts val="0"/>
                        </a:spcAft>
                      </a:pPr>
                      <a:r>
                        <a:rPr sz="1250">
                          <a:solidFill>
                            <a:srgbClr val="555252"/>
                          </a:solidFill>
                          <a:latin typeface="Inter"/>
                        </a:rPr>
                        <a:t>MiDaS-small, 21 M parameters, built for CPU</a:t>
                      </a:r>
                    </a:p>
                  </a:txBody>
                  <a:tcPr marL="109728" marR="109728" marT="54864" marB="54864" anchor="t">
                    <a:solidFill>
                      <a:srgbClr val="EFEEEC"/>
                    </a:solidFill>
                  </a:tcPr>
                </a:tc>
                <a:tc>
                  <a:txBody>
                    <a:bodyPr wrap="square"/>
                    <a:lstStyle/>
                    <a:p>
                      <a:pPr>
                        <a:lnSpc>
                          <a:spcPct val="108000"/>
                        </a:lnSpc>
                        <a:spcAft>
                          <a:spcPts val="0"/>
                        </a:spcAft>
                      </a:pPr>
                      <a:r>
                        <a:rPr sz="1250">
                          <a:solidFill>
                            <a:srgbClr val="555252"/>
                          </a:solidFill>
                          <a:latin typeface="Inter"/>
                        </a:rPr>
                        <a:t>Output has no units, unknown scale and offset</a:t>
                      </a:r>
                    </a:p>
                  </a:txBody>
                  <a:tcPr marL="109728" marR="109728" marT="54864" marB="54864" anchor="t">
                    <a:solidFill>
                      <a:srgbClr val="EFEEEC"/>
                    </a:solidFill>
                  </a:tcPr>
                </a:tc>
                <a:tc>
                  <a:txBody>
                    <a:bodyPr wrap="square"/>
                    <a:lstStyle/>
                    <a:p>
                      <a:pPr>
                        <a:lnSpc>
                          <a:spcPct val="108000"/>
                        </a:lnSpc>
                        <a:spcAft>
                          <a:spcPts val="0"/>
                        </a:spcAft>
                      </a:pPr>
                      <a:r>
                        <a:rPr sz="1250">
                          <a:solidFill>
                            <a:srgbClr val="555252"/>
                          </a:solidFill>
                          <a:latin typeface="Inter"/>
                        </a:rPr>
                        <a:t>Fit both by least squares. Median scaling alone is wrong</a:t>
                      </a:r>
                    </a:p>
                  </a:txBody>
                  <a:tcPr marL="109728" marR="109728" marT="54864" marB="54864" anchor="t">
                    <a:solidFill>
                      <a:srgbClr val="EFEEEC"/>
                    </a:solidFill>
                  </a:tcPr>
                </a:tc>
              </a:tr>
              <a:tr h="853440">
                <a:tc>
                  <a:txBody>
                    <a:bodyPr wrap="square"/>
                    <a:lstStyle/>
                    <a:p>
                      <a:pPr>
                        <a:lnSpc>
                          <a:spcPct val="108000"/>
                        </a:lnSpc>
                        <a:spcAft>
                          <a:spcPts val="0"/>
                        </a:spcAft>
                      </a:pPr>
                      <a:r>
                        <a:rPr sz="1250">
                          <a:solidFill>
                            <a:srgbClr val="555252"/>
                          </a:solidFill>
                          <a:latin typeface="Inter"/>
                        </a:rPr>
                        <a:t>Latency and hardware</a:t>
                      </a:r>
                    </a:p>
                  </a:txBody>
                  <a:tcPr marL="109728" marR="109728" marT="54864" marB="54864" anchor="t">
                    <a:solidFill>
                      <a:srgbClr val="FDFDFA"/>
                    </a:solidFill>
                  </a:tcPr>
                </a:tc>
                <a:tc>
                  <a:txBody>
                    <a:bodyPr wrap="square"/>
                    <a:lstStyle/>
                    <a:p>
                      <a:pPr>
                        <a:lnSpc>
                          <a:spcPct val="108000"/>
                        </a:lnSpc>
                        <a:spcAft>
                          <a:spcPts val="0"/>
                        </a:spcAft>
                      </a:pPr>
                      <a:r>
                        <a:rPr sz="1250">
                          <a:solidFill>
                            <a:srgbClr val="555252"/>
                          </a:solidFill>
                          <a:latin typeface="Inter"/>
                        </a:rPr>
                        <a:t>Our loop sustains over 200 cycles per second on a laptop</a:t>
                      </a:r>
                    </a:p>
                  </a:txBody>
                  <a:tcPr marL="109728" marR="109728" marT="54864" marB="54864" anchor="t">
                    <a:solidFill>
                      <a:srgbClr val="FDFDFA"/>
                    </a:solidFill>
                  </a:tcPr>
                </a:tc>
                <a:tc>
                  <a:txBody>
                    <a:bodyPr wrap="square"/>
                    <a:lstStyle/>
                    <a:p>
                      <a:pPr>
                        <a:lnSpc>
                          <a:spcPct val="108000"/>
                        </a:lnSpc>
                        <a:spcAft>
                          <a:spcPts val="0"/>
                        </a:spcAft>
                      </a:pPr>
                      <a:r>
                        <a:rPr sz="1250">
                          <a:solidFill>
                            <a:srgbClr val="555252"/>
                          </a:solidFill>
                          <a:latin typeface="Inter"/>
                        </a:rPr>
                        <a:t>Streaming video over Wi-Fi can eat the whole 100 ms budget</a:t>
                      </a:r>
                    </a:p>
                  </a:txBody>
                  <a:tcPr marL="109728" marR="109728" marT="54864" marB="54864" anchor="t">
                    <a:solidFill>
                      <a:srgbClr val="FDFDFA"/>
                    </a:solidFill>
                  </a:tcPr>
                </a:tc>
                <a:tc>
                  <a:txBody>
                    <a:bodyPr wrap="square"/>
                    <a:lstStyle/>
                    <a:p>
                      <a:pPr>
                        <a:lnSpc>
                          <a:spcPct val="108000"/>
                        </a:lnSpc>
                        <a:spcAft>
                          <a:spcPts val="0"/>
                        </a:spcAft>
                      </a:pPr>
                      <a:r>
                        <a:rPr sz="1250">
                          <a:solidFill>
                            <a:srgbClr val="555252"/>
                          </a:solidFill>
                          <a:latin typeface="Inter"/>
                        </a:rPr>
                        <a:t>Measure the round trip. Benchmark the model on the Pi first</a:t>
                      </a:r>
                    </a:p>
                  </a:txBody>
                  <a:tcPr marL="109728" marR="109728" marT="54864" marB="54864" anchor="t">
                    <a:solidFill>
                      <a:srgbClr val="FDFDFA"/>
                    </a:solidFill>
                  </a:tcPr>
                </a:tc>
              </a:tr>
              <a:tr h="853440">
                <a:tc>
                  <a:txBody>
                    <a:bodyPr wrap="square"/>
                    <a:lstStyle/>
                    <a:p>
                      <a:pPr>
                        <a:lnSpc>
                          <a:spcPct val="108000"/>
                        </a:lnSpc>
                        <a:spcAft>
                          <a:spcPts val="0"/>
                        </a:spcAft>
                      </a:pPr>
                      <a:r>
                        <a:rPr sz="1250">
                          <a:solidFill>
                            <a:srgbClr val="555252"/>
                          </a:solidFill>
                          <a:latin typeface="Inter"/>
                        </a:rPr>
                        <a:t>Sensor coverage</a:t>
                      </a:r>
                    </a:p>
                  </a:txBody>
                  <a:tcPr marL="109728" marR="109728" marT="54864" marB="54864" anchor="t">
                    <a:solidFill>
                      <a:srgbClr val="EFEEEC"/>
                    </a:solidFill>
                  </a:tcPr>
                </a:tc>
                <a:tc>
                  <a:txBody>
                    <a:bodyPr wrap="square"/>
                    <a:lstStyle/>
                    <a:p>
                      <a:pPr>
                        <a:lnSpc>
                          <a:spcPct val="108000"/>
                        </a:lnSpc>
                        <a:spcAft>
                          <a:spcPts val="0"/>
                        </a:spcAft>
                      </a:pPr>
                      <a:r>
                        <a:rPr sz="1250">
                          <a:solidFill>
                            <a:srgbClr val="555252"/>
                          </a:solidFill>
                          <a:latin typeface="Inter"/>
                        </a:rPr>
                        <a:t>Camera sees a wedge. The wing is 1.00 m across</a:t>
                      </a:r>
                    </a:p>
                  </a:txBody>
                  <a:tcPr marL="109728" marR="109728" marT="54864" marB="54864" anchor="t">
                    <a:solidFill>
                      <a:srgbClr val="EFEEEC"/>
                    </a:solidFill>
                  </a:tcPr>
                </a:tc>
                <a:tc>
                  <a:txBody>
                    <a:bodyPr wrap="square"/>
                    <a:lstStyle/>
                    <a:p>
                      <a:pPr>
                        <a:lnSpc>
                          <a:spcPct val="108000"/>
                        </a:lnSpc>
                        <a:spcAft>
                          <a:spcPts val="0"/>
                        </a:spcAft>
                      </a:pPr>
                      <a:r>
                        <a:rPr sz="1250">
                          <a:solidFill>
                            <a:srgbClr val="555252"/>
                          </a:solidFill>
                          <a:latin typeface="Inter"/>
                        </a:rPr>
                        <a:t>Obstacles leaving the frame are hit by the wingtip</a:t>
                      </a:r>
                    </a:p>
                  </a:txBody>
                  <a:tcPr marL="109728" marR="109728" marT="54864" marB="54864" anchor="t">
                    <a:solidFill>
                      <a:srgbClr val="EFEEEC"/>
                    </a:solidFill>
                  </a:tcPr>
                </a:tc>
                <a:tc>
                  <a:txBody>
                    <a:bodyPr wrap="square"/>
                    <a:lstStyle/>
                    <a:p>
                      <a:pPr>
                        <a:lnSpc>
                          <a:spcPct val="108000"/>
                        </a:lnSpc>
                        <a:spcAft>
                          <a:spcPts val="0"/>
                        </a:spcAft>
                      </a:pPr>
                      <a:r>
                        <a:rPr sz="1250">
                          <a:solidFill>
                            <a:srgbClr val="555252"/>
                          </a:solidFill>
                          <a:latin typeface="Inter"/>
                        </a:rPr>
                        <a:t>Wide lens plus a short term decaying memory. Both tested</a:t>
                      </a:r>
                    </a:p>
                  </a:txBody>
                  <a:tcPr marL="109728" marR="109728" marT="54864" marB="54864" anchor="t">
                    <a:solidFill>
                      <a:srgbClr val="EFEEEC"/>
                    </a:solidFill>
                  </a:tcPr>
                </a:tc>
              </a:tr>
              <a:tr h="853440">
                <a:tc>
                  <a:txBody>
                    <a:bodyPr wrap="square"/>
                    <a:lstStyle/>
                    <a:p>
                      <a:pPr>
                        <a:lnSpc>
                          <a:spcPct val="108000"/>
                        </a:lnSpc>
                        <a:spcAft>
                          <a:spcPts val="0"/>
                        </a:spcAft>
                      </a:pPr>
                      <a:r>
                        <a:rPr sz="1250">
                          <a:solidFill>
                            <a:srgbClr val="555252"/>
                          </a:solidFill>
                          <a:latin typeface="Inter"/>
                        </a:rPr>
                        <a:t>Airframe control</a:t>
                      </a:r>
                    </a:p>
                  </a:txBody>
                  <a:tcPr marL="109728" marR="109728" marT="54864" marB="54864" anchor="t">
                    <a:solidFill>
                      <a:srgbClr val="FDFDFA"/>
                    </a:solidFill>
                  </a:tcPr>
                </a:tc>
                <a:tc>
                  <a:txBody>
                    <a:bodyPr wrap="square"/>
                    <a:lstStyle/>
                    <a:p>
                      <a:pPr>
                        <a:lnSpc>
                          <a:spcPct val="108000"/>
                        </a:lnSpc>
                        <a:spcAft>
                          <a:spcPts val="0"/>
                        </a:spcAft>
                      </a:pPr>
                      <a:r>
                        <a:rPr sz="1250">
                          <a:solidFill>
                            <a:srgbClr val="555252"/>
                          </a:solidFill>
                          <a:latin typeface="Inter"/>
                        </a:rPr>
                        <a:t>Four motors with two tilt servos, so a tilting rotor</a:t>
                      </a:r>
                    </a:p>
                  </a:txBody>
                  <a:tcPr marL="109728" marR="109728" marT="54864" marB="54864" anchor="t">
                    <a:solidFill>
                      <a:srgbClr val="FDFDFA"/>
                    </a:solidFill>
                  </a:tcPr>
                </a:tc>
                <a:tc>
                  <a:txBody>
                    <a:bodyPr wrap="square"/>
                    <a:lstStyle/>
                    <a:p>
                      <a:pPr>
                        <a:lnSpc>
                          <a:spcPct val="108000"/>
                        </a:lnSpc>
                        <a:spcAft>
                          <a:spcPts val="0"/>
                        </a:spcAft>
                      </a:pPr>
                      <a:r>
                        <a:rPr sz="1250">
                          <a:solidFill>
                            <a:srgbClr val="555252"/>
                          </a:solidFill>
                          <a:latin typeface="Inter"/>
                        </a:rPr>
                        <a:t>Tilt mechanisms and transition are the hardest VTOL case</a:t>
                      </a:r>
                    </a:p>
                  </a:txBody>
                  <a:tcPr marL="109728" marR="109728" marT="54864" marB="54864" anchor="t">
                    <a:solidFill>
                      <a:srgbClr val="FDFDFA"/>
                    </a:solidFill>
                  </a:tcPr>
                </a:tc>
                <a:tc>
                  <a:txBody>
                    <a:bodyPr wrap="square"/>
                    <a:lstStyle/>
                    <a:p>
                      <a:pPr>
                        <a:lnSpc>
                          <a:spcPct val="108000"/>
                        </a:lnSpc>
                        <a:spcAft>
                          <a:spcPts val="0"/>
                        </a:spcAft>
                      </a:pPr>
                      <a:r>
                        <a:rPr sz="1250">
                          <a:solidFill>
                            <a:srgbClr val="555252"/>
                          </a:solidFill>
                          <a:latin typeface="Inter"/>
                        </a:rPr>
                        <a:t>Keep all avoidance testing in hover. Transition is separate</a:t>
                      </a:r>
                    </a:p>
                  </a:txBody>
                  <a:tcPr marL="109728" marR="109728" marT="54864" marB="54864" anchor="t">
                    <a:solidFill>
                      <a:srgbClr val="FDFDFA"/>
                    </a:solidFill>
                  </a:tcPr>
                </a:tc>
              </a:tr>
            </a:tbl>
          </a:graphicData>
        </a:graphic>
      </p:graphicFrame>
      <p:pic>
        <p:nvPicPr>
          <p:cNvPr id="6" name="Picture 5" descr="fig5_results.png"/>
          <p:cNvPicPr>
            <a:picLocks noChangeAspect="1"/>
          </p:cNvPicPr>
          <p:nvPr/>
        </p:nvPicPr>
        <p:blipFill>
          <a:blip r:embed="rId2"/>
          <a:stretch>
            <a:fillRect/>
          </a:stretch>
        </p:blipFill>
        <p:spPr>
          <a:xfrm>
            <a:off x="12344400" y="2148840"/>
            <a:ext cx="5029200" cy="3143250"/>
          </a:xfrm>
          <a:prstGeom prst="rect">
            <a:avLst/>
          </a:prstGeom>
        </p:spPr>
      </p:pic>
      <p:sp>
        <p:nvSpPr>
          <p:cNvPr id="7" name="Rectangle 6"/>
          <p:cNvSpPr/>
          <p:nvPr/>
        </p:nvSpPr>
        <p:spPr>
          <a:xfrm>
            <a:off x="12252960" y="5943600"/>
            <a:ext cx="5212080" cy="2834640"/>
          </a:xfrm>
          <a:prstGeom prst="rect">
            <a:avLst/>
          </a:prstGeom>
          <a:solidFill>
            <a:srgbClr val="40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2637008" y="6272784"/>
            <a:ext cx="4443984" cy="2176272"/>
          </a:xfrm>
          <a:prstGeom prst="rect">
            <a:avLst/>
          </a:prstGeom>
          <a:noFill/>
        </p:spPr>
        <p:txBody>
          <a:bodyPr wrap="square" anchor="t" lIns="0" rIns="0" tIns="0" bIns="0">
            <a:spAutoFit/>
          </a:bodyPr>
          <a:lstStyle/>
          <a:p>
            <a:pPr algn="l">
              <a:lnSpc>
                <a:spcPct val="100000"/>
              </a:lnSpc>
              <a:spcBef>
                <a:spcPts val="0"/>
              </a:spcBef>
              <a:spcAft>
                <a:spcPts val="700"/>
              </a:spcAft>
            </a:pPr>
            <a:r>
              <a:rPr sz="2100">
                <a:solidFill>
                  <a:srgbClr val="EFEEEC"/>
                </a:solidFill>
                <a:latin typeface="Inter SemiBold"/>
              </a:rPr>
              <a:t>What the measurement says</a:t>
            </a:r>
          </a:p>
          <a:p>
            <a:pPr algn="l">
              <a:lnSpc>
                <a:spcPct val="112000"/>
              </a:lnSpc>
              <a:spcBef>
                <a:spcPts val="0"/>
              </a:spcBef>
              <a:spcAft>
                <a:spcPts val="700"/>
              </a:spcAft>
            </a:pPr>
            <a:r>
              <a:rPr sz="1500">
                <a:solidFill>
                  <a:srgbClr val="C9C6C3"/>
                </a:solidFill>
                <a:latin typeface="Inter"/>
              </a:rPr>
              <a:t>Every figure uses perfect depth, so it is the ceiling. Estimated depth cannot beat it.</a:t>
            </a:r>
          </a:p>
          <a:p>
            <a:pPr algn="l">
              <a:lnSpc>
                <a:spcPct val="112000"/>
              </a:lnSpc>
              <a:spcBef>
                <a:spcPts val="0"/>
              </a:spcBef>
              <a:spcAft>
                <a:spcPts val="700"/>
              </a:spcAft>
            </a:pPr>
            <a:r>
              <a:rPr sz="1500">
                <a:solidFill>
                  <a:srgbClr val="C9C6C3"/>
                </a:solidFill>
                <a:latin typeface="Inter"/>
              </a:rPr>
              <a:t>Tuning on 12 courses gave 92 per cent. The same settings gave 66 per cent on 50 held out courses. Quote the second number.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FEEEC"/>
        </a:solidFill>
        <a:effectLst/>
      </p:bgPr>
    </p:bg>
    <p:spTree>
      <p:nvGrpSpPr>
        <p:cNvPr id="1" name=""/>
        <p:cNvGrpSpPr/>
        <p:nvPr/>
      </p:nvGrpSpPr>
      <p:grpSpPr/>
      <p:sp>
        <p:nvSpPr>
          <p:cNvPr id="2" name="TextBox 1"/>
          <p:cNvSpPr txBox="1"/>
          <p:nvPr/>
        </p:nvSpPr>
        <p:spPr>
          <a:xfrm>
            <a:off x="822960" y="576072"/>
            <a:ext cx="16733520" cy="1234440"/>
          </a:xfrm>
          <a:prstGeom prst="rect">
            <a:avLst/>
          </a:prstGeom>
          <a:noFill/>
        </p:spPr>
        <p:txBody>
          <a:bodyPr wrap="square" anchor="t" lIns="0" rIns="0" tIns="0" bIns="0">
            <a:spAutoFit/>
          </a:bodyPr>
          <a:lstStyle/>
          <a:p>
            <a:pPr algn="l">
              <a:lnSpc>
                <a:spcPct val="100000"/>
              </a:lnSpc>
              <a:spcBef>
                <a:spcPts val="0"/>
              </a:spcBef>
              <a:spcAft>
                <a:spcPts val="600"/>
              </a:spcAft>
            </a:pPr>
            <a:r>
              <a:rPr sz="1500">
                <a:solidFill>
                  <a:srgbClr val="8A8684"/>
                </a:solidFill>
                <a:latin typeface="Inter Light"/>
              </a:rPr>
              <a:t>COST, OPERATION AND HARM</a:t>
            </a:r>
          </a:p>
          <a:p>
            <a:pPr algn="l">
              <a:lnSpc>
                <a:spcPct val="100000"/>
              </a:lnSpc>
              <a:spcBef>
                <a:spcPts val="0"/>
              </a:spcBef>
              <a:spcAft>
                <a:spcPts val="0"/>
              </a:spcAft>
            </a:pPr>
            <a:r>
              <a:rPr sz="4350">
                <a:solidFill>
                  <a:srgbClr val="403E3E"/>
                </a:solidFill>
                <a:latin typeface="Inter"/>
              </a:rPr>
              <a:t>Economic, Operational and Ethical Feasibility</a:t>
            </a:r>
          </a:p>
        </p:txBody>
      </p:sp>
      <p:sp>
        <p:nvSpPr>
          <p:cNvPr id="3" name="Rectangle 2"/>
          <p:cNvSpPr/>
          <p:nvPr/>
        </p:nvSpPr>
        <p:spPr>
          <a:xfrm>
            <a:off x="822960" y="1755648"/>
            <a:ext cx="16642080" cy="18288"/>
          </a:xfrm>
          <a:prstGeom prst="rect">
            <a:avLst/>
          </a:prstGeom>
          <a:solidFill>
            <a:srgbClr val="D5D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6824960" y="9509760"/>
            <a:ext cx="640080" cy="320040"/>
          </a:xfrm>
          <a:prstGeom prst="rect">
            <a:avLst/>
          </a:prstGeom>
          <a:noFill/>
        </p:spPr>
        <p:txBody>
          <a:bodyPr wrap="square" anchor="t" lIns="0" rIns="0" tIns="0" bIns="0">
            <a:spAutoFit/>
          </a:bodyPr>
          <a:lstStyle/>
          <a:p>
            <a:pPr algn="r">
              <a:lnSpc>
                <a:spcPct val="100000"/>
              </a:lnSpc>
              <a:spcBef>
                <a:spcPts val="0"/>
              </a:spcBef>
              <a:spcAft>
                <a:spcPts val="400"/>
              </a:spcAft>
            </a:pPr>
            <a:r>
              <a:rPr sz="1300">
                <a:solidFill>
                  <a:srgbClr val="8A8684"/>
                </a:solidFill>
                <a:latin typeface="Inter Light"/>
              </a:rPr>
              <a:t>8</a:t>
            </a:r>
          </a:p>
        </p:txBody>
      </p:sp>
      <p:graphicFrame>
        <p:nvGraphicFramePr>
          <p:cNvPr id="5" name="Table 4"/>
          <p:cNvGraphicFramePr>
            <a:graphicFrameLocks noGrp="1"/>
          </p:cNvGraphicFramePr>
          <p:nvPr/>
        </p:nvGraphicFramePr>
        <p:xfrm>
          <a:off x="822960" y="2057400"/>
          <a:ext cx="8229600" cy="3017520"/>
        </p:xfrm>
        <a:graphic>
          <a:graphicData uri="http://schemas.openxmlformats.org/drawingml/2006/table">
            <a:tbl>
              <a:tblPr firstRow="1" bandRow="1">
                <a:tableStyleId>{5C22544A-7EE6-4342-B048-85BDC9FD1C3A}</a:tableStyleId>
              </a:tblPr>
              <a:tblGrid>
                <a:gridCol w="1371600"/>
                <a:gridCol w="2743200"/>
                <a:gridCol w="2103120"/>
                <a:gridCol w="2011680"/>
              </a:tblGrid>
              <a:tr h="603504">
                <a:tc>
                  <a:txBody>
                    <a:bodyPr wrap="square"/>
                    <a:lstStyle/>
                    <a:p>
                      <a:pPr>
                        <a:spcAft>
                          <a:spcPts val="0"/>
                        </a:spcAft>
                      </a:pPr>
                      <a:r>
                        <a:rPr sz="1350">
                          <a:solidFill>
                            <a:srgbClr val="EFEEEC"/>
                          </a:solidFill>
                          <a:latin typeface="Inter SemiBold"/>
                        </a:rPr>
                        <a:t>Aspect</a:t>
                      </a:r>
                    </a:p>
                  </a:txBody>
                  <a:tcPr marL="109728" marR="109728" marT="64008" marB="64008" anchor="ctr">
                    <a:solidFill>
                      <a:srgbClr val="403E3E"/>
                    </a:solidFill>
                  </a:tcPr>
                </a:tc>
                <a:tc>
                  <a:txBody>
                    <a:bodyPr wrap="square"/>
                    <a:lstStyle/>
                    <a:p>
                      <a:pPr>
                        <a:spcAft>
                          <a:spcPts val="0"/>
                        </a:spcAft>
                      </a:pPr>
                      <a:r>
                        <a:rPr sz="1350">
                          <a:solidFill>
                            <a:srgbClr val="EFEEEC"/>
                          </a:solidFill>
                          <a:latin typeface="Inter SemiBold"/>
                        </a:rPr>
                        <a:t>Project analysis</a:t>
                      </a:r>
                    </a:p>
                  </a:txBody>
                  <a:tcPr marL="109728" marR="109728" marT="64008" marB="64008" anchor="ctr">
                    <a:solidFill>
                      <a:srgbClr val="403E3E"/>
                    </a:solidFill>
                  </a:tcPr>
                </a:tc>
                <a:tc>
                  <a:txBody>
                    <a:bodyPr wrap="square"/>
                    <a:lstStyle/>
                    <a:p>
                      <a:pPr>
                        <a:spcAft>
                          <a:spcPts val="0"/>
                        </a:spcAft>
                      </a:pPr>
                      <a:r>
                        <a:rPr sz="1350">
                          <a:solidFill>
                            <a:srgbClr val="EFEEEC"/>
                          </a:solidFill>
                          <a:latin typeface="Inter SemiBold"/>
                        </a:rPr>
                        <a:t>Risk</a:t>
                      </a:r>
                    </a:p>
                  </a:txBody>
                  <a:tcPr marL="109728" marR="109728" marT="64008" marB="64008" anchor="ctr">
                    <a:solidFill>
                      <a:srgbClr val="403E3E"/>
                    </a:solidFill>
                  </a:tcPr>
                </a:tc>
                <a:tc>
                  <a:txBody>
                    <a:bodyPr wrap="square"/>
                    <a:lstStyle/>
                    <a:p>
                      <a:pPr>
                        <a:spcAft>
                          <a:spcPts val="0"/>
                        </a:spcAft>
                      </a:pPr>
                      <a:r>
                        <a:rPr sz="1350">
                          <a:solidFill>
                            <a:srgbClr val="EFEEEC"/>
                          </a:solidFill>
                          <a:latin typeface="Inter SemiBold"/>
                        </a:rPr>
                        <a:t>Mitigation</a:t>
                      </a:r>
                    </a:p>
                  </a:txBody>
                  <a:tcPr marL="109728" marR="109728" marT="64008" marB="64008" anchor="ctr">
                    <a:solidFill>
                      <a:srgbClr val="403E3E"/>
                    </a:solidFill>
                  </a:tcPr>
                </a:tc>
              </a:tr>
              <a:tr h="603504">
                <a:tc>
                  <a:txBody>
                    <a:bodyPr wrap="square"/>
                    <a:lstStyle/>
                    <a:p>
                      <a:pPr>
                        <a:lnSpc>
                          <a:spcPct val="108000"/>
                        </a:lnSpc>
                        <a:spcAft>
                          <a:spcPts val="0"/>
                        </a:spcAft>
                      </a:pPr>
                      <a:r>
                        <a:rPr sz="1200">
                          <a:solidFill>
                            <a:srgbClr val="555252"/>
                          </a:solidFill>
                          <a:latin typeface="Inter"/>
                        </a:rPr>
                        <a:t>Economic</a:t>
                      </a:r>
                    </a:p>
                  </a:txBody>
                  <a:tcPr marL="109728" marR="109728" marT="54864" marB="54864" anchor="t">
                    <a:solidFill>
                      <a:srgbClr val="FDFDFA"/>
                    </a:solidFill>
                  </a:tcPr>
                </a:tc>
                <a:tc>
                  <a:txBody>
                    <a:bodyPr wrap="square"/>
                    <a:lstStyle/>
                    <a:p>
                      <a:pPr>
                        <a:lnSpc>
                          <a:spcPct val="108000"/>
                        </a:lnSpc>
                        <a:spcAft>
                          <a:spcPts val="0"/>
                        </a:spcAft>
                      </a:pPr>
                      <a:r>
                        <a:rPr sz="1200">
                          <a:solidFill>
                            <a:srgbClr val="555252"/>
                          </a:solidFill>
                          <a:latin typeface="Inter"/>
                        </a:rPr>
                        <a:t>Simulation costs nothing. Airframe 55,000 to 90,000 rupees</a:t>
                      </a:r>
                    </a:p>
                  </a:txBody>
                  <a:tcPr marL="109728" marR="109728" marT="54864" marB="54864" anchor="t">
                    <a:solidFill>
                      <a:srgbClr val="FDFDFA"/>
                    </a:solidFill>
                  </a:tcPr>
                </a:tc>
                <a:tc>
                  <a:txBody>
                    <a:bodyPr wrap="square"/>
                    <a:lstStyle/>
                    <a:p>
                      <a:pPr>
                        <a:lnSpc>
                          <a:spcPct val="108000"/>
                        </a:lnSpc>
                        <a:spcAft>
                          <a:spcPts val="0"/>
                        </a:spcAft>
                      </a:pPr>
                      <a:r>
                        <a:rPr sz="1200">
                          <a:solidFill>
                            <a:srgbClr val="555252"/>
                          </a:solidFill>
                          <a:latin typeface="Inter"/>
                        </a:rPr>
                        <a:t>Buying motors before the mass budget exists</a:t>
                      </a:r>
                    </a:p>
                  </a:txBody>
                  <a:tcPr marL="109728" marR="109728" marT="54864" marB="54864" anchor="t">
                    <a:solidFill>
                      <a:srgbClr val="FDFDFA"/>
                    </a:solidFill>
                  </a:tcPr>
                </a:tc>
                <a:tc>
                  <a:txBody>
                    <a:bodyPr wrap="square"/>
                    <a:lstStyle/>
                    <a:p>
                      <a:pPr>
                        <a:lnSpc>
                          <a:spcPct val="108000"/>
                        </a:lnSpc>
                        <a:spcAft>
                          <a:spcPts val="0"/>
                        </a:spcAft>
                      </a:pPr>
                      <a:r>
                        <a:rPr sz="1200">
                          <a:solidFill>
                            <a:srgbClr val="555252"/>
                          </a:solidFill>
                          <a:latin typeface="Inter"/>
                        </a:rPr>
                        <a:t>Two stage purchase. Propulsion last</a:t>
                      </a:r>
                    </a:p>
                  </a:txBody>
                  <a:tcPr marL="109728" marR="109728" marT="54864" marB="54864" anchor="t">
                    <a:solidFill>
                      <a:srgbClr val="FDFDFA"/>
                    </a:solidFill>
                  </a:tcPr>
                </a:tc>
              </a:tr>
              <a:tr h="603504">
                <a:tc>
                  <a:txBody>
                    <a:bodyPr wrap="square"/>
                    <a:lstStyle/>
                    <a:p>
                      <a:pPr>
                        <a:lnSpc>
                          <a:spcPct val="108000"/>
                        </a:lnSpc>
                        <a:spcAft>
                          <a:spcPts val="0"/>
                        </a:spcAft>
                      </a:pPr>
                      <a:r>
                        <a:rPr sz="1200">
                          <a:solidFill>
                            <a:srgbClr val="555252"/>
                          </a:solidFill>
                          <a:latin typeface="Inter"/>
                        </a:rPr>
                        <a:t>Economic</a:t>
                      </a:r>
                    </a:p>
                  </a:txBody>
                  <a:tcPr marL="109728" marR="109728" marT="54864" marB="54864" anchor="t">
                    <a:solidFill>
                      <a:srgbClr val="EFEEEC"/>
                    </a:solidFill>
                  </a:tcPr>
                </a:tc>
                <a:tc>
                  <a:txBody>
                    <a:bodyPr wrap="square"/>
                    <a:lstStyle/>
                    <a:p>
                      <a:pPr>
                        <a:lnSpc>
                          <a:spcPct val="108000"/>
                        </a:lnSpc>
                        <a:spcAft>
                          <a:spcPts val="0"/>
                        </a:spcAft>
                      </a:pPr>
                      <a:r>
                        <a:rPr sz="1200">
                          <a:solidFill>
                            <a:srgbClr val="555252"/>
                          </a:solidFill>
                          <a:latin typeface="Inter"/>
                        </a:rPr>
                        <a:t>No labelling needed. The simulator supplies exact depth</a:t>
                      </a:r>
                    </a:p>
                  </a:txBody>
                  <a:tcPr marL="109728" marR="109728" marT="54864" marB="54864" anchor="t">
                    <a:solidFill>
                      <a:srgbClr val="EFEEEC"/>
                    </a:solidFill>
                  </a:tcPr>
                </a:tc>
                <a:tc>
                  <a:txBody>
                    <a:bodyPr wrap="square"/>
                    <a:lstStyle/>
                    <a:p>
                      <a:pPr>
                        <a:lnSpc>
                          <a:spcPct val="108000"/>
                        </a:lnSpc>
                        <a:spcAft>
                          <a:spcPts val="0"/>
                        </a:spcAft>
                      </a:pPr>
                      <a:r>
                        <a:rPr sz="1200">
                          <a:solidFill>
                            <a:srgbClr val="555252"/>
                          </a:solidFill>
                          <a:latin typeface="Inter"/>
                        </a:rPr>
                        <a:t>Development effort is the real cost, paid in time</a:t>
                      </a:r>
                    </a:p>
                  </a:txBody>
                  <a:tcPr marL="109728" marR="109728" marT="54864" marB="54864" anchor="t">
                    <a:solidFill>
                      <a:srgbClr val="EFEEEC"/>
                    </a:solidFill>
                  </a:tcPr>
                </a:tc>
                <a:tc>
                  <a:txBody>
                    <a:bodyPr wrap="square"/>
                    <a:lstStyle/>
                    <a:p>
                      <a:pPr>
                        <a:lnSpc>
                          <a:spcPct val="108000"/>
                        </a:lnSpc>
                        <a:spcAft>
                          <a:spcPts val="0"/>
                        </a:spcAft>
                      </a:pPr>
                      <a:r>
                        <a:rPr sz="1200">
                          <a:solidFill>
                            <a:srgbClr val="555252"/>
                          </a:solidFill>
                          <a:latin typeface="Inter"/>
                        </a:rPr>
                        <a:t>Four owners, one per workstream</a:t>
                      </a:r>
                    </a:p>
                  </a:txBody>
                  <a:tcPr marL="109728" marR="109728" marT="54864" marB="54864" anchor="t">
                    <a:solidFill>
                      <a:srgbClr val="EFEEEC"/>
                    </a:solidFill>
                  </a:tcPr>
                </a:tc>
              </a:tr>
              <a:tr h="603504">
                <a:tc>
                  <a:txBody>
                    <a:bodyPr wrap="square"/>
                    <a:lstStyle/>
                    <a:p>
                      <a:pPr>
                        <a:lnSpc>
                          <a:spcPct val="108000"/>
                        </a:lnSpc>
                        <a:spcAft>
                          <a:spcPts val="0"/>
                        </a:spcAft>
                      </a:pPr>
                      <a:r>
                        <a:rPr sz="1200">
                          <a:solidFill>
                            <a:srgbClr val="555252"/>
                          </a:solidFill>
                          <a:latin typeface="Inter"/>
                        </a:rPr>
                        <a:t>Operational</a:t>
                      </a:r>
                    </a:p>
                  </a:txBody>
                  <a:tcPr marL="109728" marR="109728" marT="54864" marB="54864" anchor="t">
                    <a:solidFill>
                      <a:srgbClr val="FDFDFA"/>
                    </a:solidFill>
                  </a:tcPr>
                </a:tc>
                <a:tc>
                  <a:txBody>
                    <a:bodyPr wrap="square"/>
                    <a:lstStyle/>
                    <a:p>
                      <a:pPr>
                        <a:lnSpc>
                          <a:spcPct val="108000"/>
                        </a:lnSpc>
                        <a:spcAft>
                          <a:spcPts val="0"/>
                        </a:spcAft>
                      </a:pPr>
                      <a:r>
                        <a:rPr sz="1200">
                          <a:solidFill>
                            <a:srgbClr val="555252"/>
                          </a:solidFill>
                          <a:latin typeface="Inter"/>
                        </a:rPr>
                        <a:t>Team operates it. A named pilot holds a manual override</a:t>
                      </a:r>
                    </a:p>
                  </a:txBody>
                  <a:tcPr marL="109728" marR="109728" marT="54864" marB="54864" anchor="t">
                    <a:solidFill>
                      <a:srgbClr val="FDFDFA"/>
                    </a:solidFill>
                  </a:tcPr>
                </a:tc>
                <a:tc>
                  <a:txBody>
                    <a:bodyPr wrap="square"/>
                    <a:lstStyle/>
                    <a:p>
                      <a:pPr>
                        <a:lnSpc>
                          <a:spcPct val="108000"/>
                        </a:lnSpc>
                        <a:spcAft>
                          <a:spcPts val="0"/>
                        </a:spcAft>
                      </a:pPr>
                      <a:r>
                        <a:rPr sz="1200">
                          <a:solidFill>
                            <a:srgbClr val="555252"/>
                          </a:solidFill>
                          <a:latin typeface="Inter"/>
                        </a:rPr>
                        <a:t>An alert nobody reads is not monitoring</a:t>
                      </a:r>
                    </a:p>
                  </a:txBody>
                  <a:tcPr marL="109728" marR="109728" marT="54864" marB="54864" anchor="t">
                    <a:solidFill>
                      <a:srgbClr val="FDFDFA"/>
                    </a:solidFill>
                  </a:tcPr>
                </a:tc>
                <a:tc>
                  <a:txBody>
                    <a:bodyPr wrap="square"/>
                    <a:lstStyle/>
                    <a:p>
                      <a:pPr>
                        <a:lnSpc>
                          <a:spcPct val="108000"/>
                        </a:lnSpc>
                        <a:spcAft>
                          <a:spcPts val="0"/>
                        </a:spcAft>
                      </a:pPr>
                      <a:r>
                        <a:rPr sz="1200">
                          <a:solidFill>
                            <a:srgbClr val="555252"/>
                          </a:solidFill>
                          <a:latin typeface="Inter"/>
                        </a:rPr>
                        <a:t>Named owner for drift review</a:t>
                      </a:r>
                    </a:p>
                  </a:txBody>
                  <a:tcPr marL="109728" marR="109728" marT="54864" marB="54864" anchor="t">
                    <a:solidFill>
                      <a:srgbClr val="FDFDFA"/>
                    </a:solidFill>
                  </a:tcPr>
                </a:tc>
              </a:tr>
              <a:tr h="603504">
                <a:tc>
                  <a:txBody>
                    <a:bodyPr wrap="square"/>
                    <a:lstStyle/>
                    <a:p>
                      <a:pPr>
                        <a:lnSpc>
                          <a:spcPct val="108000"/>
                        </a:lnSpc>
                        <a:spcAft>
                          <a:spcPts val="0"/>
                        </a:spcAft>
                      </a:pPr>
                      <a:r>
                        <a:rPr sz="1200">
                          <a:solidFill>
                            <a:srgbClr val="555252"/>
                          </a:solidFill>
                          <a:latin typeface="Inter"/>
                        </a:rPr>
                        <a:t>Operational</a:t>
                      </a:r>
                    </a:p>
                  </a:txBody>
                  <a:tcPr marL="109728" marR="109728" marT="54864" marB="54864" anchor="t">
                    <a:solidFill>
                      <a:srgbClr val="EFEEEC"/>
                    </a:solidFill>
                  </a:tcPr>
                </a:tc>
                <a:tc>
                  <a:txBody>
                    <a:bodyPr wrap="square"/>
                    <a:lstStyle/>
                    <a:p>
                      <a:pPr>
                        <a:lnSpc>
                          <a:spcPct val="108000"/>
                        </a:lnSpc>
                        <a:spcAft>
                          <a:spcPts val="0"/>
                        </a:spcAft>
                      </a:pPr>
                      <a:r>
                        <a:rPr sz="1200">
                          <a:solidFill>
                            <a:srgbClr val="555252"/>
                          </a:solidFill>
                          <a:latin typeface="Inter"/>
                        </a:rPr>
                        <a:t>Model never retrained, so no retraining pipeline</a:t>
                      </a:r>
                    </a:p>
                  </a:txBody>
                  <a:tcPr marL="109728" marR="109728" marT="54864" marB="54864" anchor="t">
                    <a:solidFill>
                      <a:srgbClr val="EFEEEC"/>
                    </a:solidFill>
                  </a:tcPr>
                </a:tc>
                <a:tc>
                  <a:txBody>
                    <a:bodyPr wrap="square"/>
                    <a:lstStyle/>
                    <a:p>
                      <a:pPr>
                        <a:lnSpc>
                          <a:spcPct val="108000"/>
                        </a:lnSpc>
                        <a:spcAft>
                          <a:spcPts val="0"/>
                        </a:spcAft>
                      </a:pPr>
                      <a:r>
                        <a:rPr sz="1200">
                          <a:solidFill>
                            <a:srgbClr val="555252"/>
                          </a:solidFill>
                          <a:latin typeface="Inter"/>
                        </a:rPr>
                        <a:t>Work becomes unusable once the team disperses</a:t>
                      </a:r>
                    </a:p>
                  </a:txBody>
                  <a:tcPr marL="109728" marR="109728" marT="54864" marB="54864" anchor="t">
                    <a:solidFill>
                      <a:srgbClr val="EFEEEC"/>
                    </a:solidFill>
                  </a:tcPr>
                </a:tc>
                <a:tc>
                  <a:txBody>
                    <a:bodyPr wrap="square"/>
                    <a:lstStyle/>
                    <a:p>
                      <a:pPr>
                        <a:lnSpc>
                          <a:spcPct val="108000"/>
                        </a:lnSpc>
                        <a:spcAft>
                          <a:spcPts val="0"/>
                        </a:spcAft>
                      </a:pPr>
                      <a:r>
                        <a:rPr sz="1200">
                          <a:solidFill>
                            <a:srgbClr val="555252"/>
                          </a:solidFill>
                          <a:latin typeface="Inter"/>
                        </a:rPr>
                        <a:t>Seeded courses, pinned versions, one hour to reproduce</a:t>
                      </a:r>
                    </a:p>
                  </a:txBody>
                  <a:tcPr marL="109728" marR="109728" marT="54864" marB="54864" anchor="t">
                    <a:solidFill>
                      <a:srgbClr val="EFEEEC"/>
                    </a:solidFill>
                  </a:tcPr>
                </a:tc>
              </a:tr>
            </a:tbl>
          </a:graphicData>
        </a:graphic>
      </p:graphicFrame>
      <p:graphicFrame>
        <p:nvGraphicFramePr>
          <p:cNvPr id="6" name="Table 5"/>
          <p:cNvGraphicFramePr>
            <a:graphicFrameLocks noGrp="1"/>
          </p:cNvGraphicFramePr>
          <p:nvPr/>
        </p:nvGraphicFramePr>
        <p:xfrm>
          <a:off x="822960" y="5532120"/>
          <a:ext cx="8229600" cy="3200400"/>
        </p:xfrm>
        <a:graphic>
          <a:graphicData uri="http://schemas.openxmlformats.org/drawingml/2006/table">
            <a:tbl>
              <a:tblPr firstRow="1" bandRow="1">
                <a:tableStyleId>{5C22544A-7EE6-4342-B048-85BDC9FD1C3A}</a:tableStyleId>
              </a:tblPr>
              <a:tblGrid>
                <a:gridCol w="1371600"/>
                <a:gridCol w="2011680"/>
                <a:gridCol w="2468880"/>
                <a:gridCol w="2377440"/>
              </a:tblGrid>
              <a:tr h="640080">
                <a:tc>
                  <a:txBody>
                    <a:bodyPr wrap="square"/>
                    <a:lstStyle/>
                    <a:p>
                      <a:pPr>
                        <a:spcAft>
                          <a:spcPts val="0"/>
                        </a:spcAft>
                      </a:pPr>
                      <a:r>
                        <a:rPr sz="1350">
                          <a:solidFill>
                            <a:srgbClr val="EFEEEC"/>
                          </a:solidFill>
                          <a:latin typeface="Inter SemiBold"/>
                        </a:rPr>
                        <a:t>Ethical issue</a:t>
                      </a:r>
                    </a:p>
                  </a:txBody>
                  <a:tcPr marL="109728" marR="109728" marT="64008" marB="64008" anchor="ctr">
                    <a:solidFill>
                      <a:srgbClr val="403E3E"/>
                    </a:solidFill>
                  </a:tcPr>
                </a:tc>
                <a:tc>
                  <a:txBody>
                    <a:bodyPr wrap="square"/>
                    <a:lstStyle/>
                    <a:p>
                      <a:pPr>
                        <a:spcAft>
                          <a:spcPts val="0"/>
                        </a:spcAft>
                      </a:pPr>
                      <a:r>
                        <a:rPr sz="1350">
                          <a:solidFill>
                            <a:srgbClr val="EFEEEC"/>
                          </a:solidFill>
                          <a:latin typeface="Inter SemiBold"/>
                        </a:rPr>
                        <a:t>Affected group</a:t>
                      </a:r>
                    </a:p>
                  </a:txBody>
                  <a:tcPr marL="109728" marR="109728" marT="64008" marB="64008" anchor="ctr">
                    <a:solidFill>
                      <a:srgbClr val="403E3E"/>
                    </a:solidFill>
                  </a:tcPr>
                </a:tc>
                <a:tc>
                  <a:txBody>
                    <a:bodyPr wrap="square"/>
                    <a:lstStyle/>
                    <a:p>
                      <a:pPr>
                        <a:spcAft>
                          <a:spcPts val="0"/>
                        </a:spcAft>
                      </a:pPr>
                      <a:r>
                        <a:rPr sz="1350">
                          <a:solidFill>
                            <a:srgbClr val="EFEEEC"/>
                          </a:solidFill>
                          <a:latin typeface="Inter SemiBold"/>
                        </a:rPr>
                        <a:t>Potential harm</a:t>
                      </a:r>
                    </a:p>
                  </a:txBody>
                  <a:tcPr marL="109728" marR="109728" marT="64008" marB="64008" anchor="ctr">
                    <a:solidFill>
                      <a:srgbClr val="403E3E"/>
                    </a:solidFill>
                  </a:tcPr>
                </a:tc>
                <a:tc>
                  <a:txBody>
                    <a:bodyPr wrap="square"/>
                    <a:lstStyle/>
                    <a:p>
                      <a:pPr>
                        <a:spcAft>
                          <a:spcPts val="0"/>
                        </a:spcAft>
                      </a:pPr>
                      <a:r>
                        <a:rPr sz="1350">
                          <a:solidFill>
                            <a:srgbClr val="EFEEEC"/>
                          </a:solidFill>
                          <a:latin typeface="Inter SemiBold"/>
                        </a:rPr>
                        <a:t>Mitigation</a:t>
                      </a:r>
                    </a:p>
                  </a:txBody>
                  <a:tcPr marL="109728" marR="109728" marT="64008" marB="64008" anchor="ctr">
                    <a:solidFill>
                      <a:srgbClr val="403E3E"/>
                    </a:solidFill>
                  </a:tcPr>
                </a:tc>
              </a:tr>
              <a:tr h="640080">
                <a:tc>
                  <a:txBody>
                    <a:bodyPr wrap="square"/>
                    <a:lstStyle/>
                    <a:p>
                      <a:pPr>
                        <a:lnSpc>
                          <a:spcPct val="108000"/>
                        </a:lnSpc>
                        <a:spcAft>
                          <a:spcPts val="0"/>
                        </a:spcAft>
                      </a:pPr>
                      <a:r>
                        <a:rPr sz="1200">
                          <a:solidFill>
                            <a:srgbClr val="555252"/>
                          </a:solidFill>
                          <a:latin typeface="Inter"/>
                        </a:rPr>
                        <a:t>Privacy</a:t>
                      </a:r>
                    </a:p>
                  </a:txBody>
                  <a:tcPr marL="109728" marR="109728" marT="54864" marB="54864" anchor="t">
                    <a:solidFill>
                      <a:srgbClr val="FDFDFA"/>
                    </a:solidFill>
                  </a:tcPr>
                </a:tc>
                <a:tc>
                  <a:txBody>
                    <a:bodyPr wrap="square"/>
                    <a:lstStyle/>
                    <a:p>
                      <a:pPr>
                        <a:lnSpc>
                          <a:spcPct val="108000"/>
                        </a:lnSpc>
                        <a:spcAft>
                          <a:spcPts val="0"/>
                        </a:spcAft>
                      </a:pPr>
                      <a:r>
                        <a:rPr sz="1200">
                          <a:solidFill>
                            <a:srgbClr val="555252"/>
                          </a:solidFill>
                          <a:latin typeface="Inter"/>
                        </a:rPr>
                        <a:t>Anyone within view who never agreed</a:t>
                      </a:r>
                    </a:p>
                  </a:txBody>
                  <a:tcPr marL="109728" marR="109728" marT="54864" marB="54864" anchor="t">
                    <a:solidFill>
                      <a:srgbClr val="FDFDFA"/>
                    </a:solidFill>
                  </a:tcPr>
                </a:tc>
                <a:tc>
                  <a:txBody>
                    <a:bodyPr wrap="square"/>
                    <a:lstStyle/>
                    <a:p>
                      <a:pPr>
                        <a:lnSpc>
                          <a:spcPct val="108000"/>
                        </a:lnSpc>
                        <a:spcAft>
                          <a:spcPts val="0"/>
                        </a:spcAft>
                      </a:pPr>
                      <a:r>
                        <a:rPr sz="1200">
                          <a:solidFill>
                            <a:srgbClr val="555252"/>
                          </a:solidFill>
                          <a:latin typeface="Inter"/>
                        </a:rPr>
                        <a:t>A camera above head height records private ground</a:t>
                      </a:r>
                    </a:p>
                  </a:txBody>
                  <a:tcPr marL="109728" marR="109728" marT="54864" marB="54864" anchor="t">
                    <a:solidFill>
                      <a:srgbClr val="FDFDFA"/>
                    </a:solidFill>
                  </a:tcPr>
                </a:tc>
                <a:tc>
                  <a:txBody>
                    <a:bodyPr wrap="square"/>
                    <a:lstStyle/>
                    <a:p>
                      <a:pPr>
                        <a:lnSpc>
                          <a:spcPct val="108000"/>
                        </a:lnSpc>
                        <a:spcAft>
                          <a:spcPts val="0"/>
                        </a:spcAft>
                      </a:pPr>
                      <a:r>
                        <a:rPr sz="1200">
                          <a:solidFill>
                            <a:srgbClr val="555252"/>
                          </a:solidFill>
                          <a:latin typeface="Inter"/>
                        </a:rPr>
                        <a:t>No frame written to disk in flight. Nothing leaves the operator</a:t>
                      </a:r>
                    </a:p>
                  </a:txBody>
                  <a:tcPr marL="109728" marR="109728" marT="54864" marB="54864" anchor="t">
                    <a:solidFill>
                      <a:srgbClr val="FDFDFA"/>
                    </a:solidFill>
                  </a:tcPr>
                </a:tc>
              </a:tr>
              <a:tr h="640080">
                <a:tc>
                  <a:txBody>
                    <a:bodyPr wrap="square"/>
                    <a:lstStyle/>
                    <a:p>
                      <a:pPr>
                        <a:lnSpc>
                          <a:spcPct val="108000"/>
                        </a:lnSpc>
                        <a:spcAft>
                          <a:spcPts val="0"/>
                        </a:spcAft>
                      </a:pPr>
                      <a:r>
                        <a:rPr sz="1200">
                          <a:solidFill>
                            <a:srgbClr val="555252"/>
                          </a:solidFill>
                          <a:latin typeface="Inter"/>
                        </a:rPr>
                        <a:t>Bias and fairness</a:t>
                      </a:r>
                    </a:p>
                  </a:txBody>
                  <a:tcPr marL="109728" marR="109728" marT="54864" marB="54864" anchor="t">
                    <a:solidFill>
                      <a:srgbClr val="EFEEEC"/>
                    </a:solidFill>
                  </a:tcPr>
                </a:tc>
                <a:tc>
                  <a:txBody>
                    <a:bodyPr wrap="square"/>
                    <a:lstStyle/>
                    <a:p>
                      <a:pPr>
                        <a:lnSpc>
                          <a:spcPct val="108000"/>
                        </a:lnSpc>
                        <a:spcAft>
                          <a:spcPts val="0"/>
                        </a:spcAft>
                      </a:pPr>
                      <a:r>
                        <a:rPr sz="1200">
                          <a:solidFill>
                            <a:srgbClr val="555252"/>
                          </a:solidFill>
                          <a:latin typeface="Inter"/>
                        </a:rPr>
                        <a:t>People near textureless or thin structures</a:t>
                      </a:r>
                    </a:p>
                  </a:txBody>
                  <a:tcPr marL="109728" marR="109728" marT="54864" marB="54864" anchor="t">
                    <a:solidFill>
                      <a:srgbClr val="EFEEEC"/>
                    </a:solidFill>
                  </a:tcPr>
                </a:tc>
                <a:tc>
                  <a:txBody>
                    <a:bodyPr wrap="square"/>
                    <a:lstStyle/>
                    <a:p>
                      <a:pPr>
                        <a:lnSpc>
                          <a:spcPct val="108000"/>
                        </a:lnSpc>
                        <a:spcAft>
                          <a:spcPts val="0"/>
                        </a:spcAft>
                      </a:pPr>
                      <a:r>
                        <a:rPr sz="1200">
                          <a:solidFill>
                            <a:srgbClr val="555252"/>
                          </a:solidFill>
                          <a:latin typeface="Inter"/>
                        </a:rPr>
                        <a:t>The model is worse there, moving risk onto them</a:t>
                      </a:r>
                    </a:p>
                  </a:txBody>
                  <a:tcPr marL="109728" marR="109728" marT="54864" marB="54864" anchor="t">
                    <a:solidFill>
                      <a:srgbClr val="EFEEEC"/>
                    </a:solidFill>
                  </a:tcPr>
                </a:tc>
                <a:tc>
                  <a:txBody>
                    <a:bodyPr wrap="square"/>
                    <a:lstStyle/>
                    <a:p>
                      <a:pPr>
                        <a:lnSpc>
                          <a:spcPct val="108000"/>
                        </a:lnSpc>
                        <a:spcAft>
                          <a:spcPts val="0"/>
                        </a:spcAft>
                      </a:pPr>
                      <a:r>
                        <a:rPr sz="1200">
                          <a:solidFill>
                            <a:srgbClr val="555252"/>
                          </a:solidFill>
                          <a:latin typeface="Inter"/>
                        </a:rPr>
                        <a:t>Failure modes published, stop distance set for the worst case</a:t>
                      </a:r>
                    </a:p>
                  </a:txBody>
                  <a:tcPr marL="109728" marR="109728" marT="54864" marB="54864" anchor="t">
                    <a:solidFill>
                      <a:srgbClr val="EFEEEC"/>
                    </a:solidFill>
                  </a:tcPr>
                </a:tc>
              </a:tr>
              <a:tr h="640080">
                <a:tc>
                  <a:txBody>
                    <a:bodyPr wrap="square"/>
                    <a:lstStyle/>
                    <a:p>
                      <a:pPr>
                        <a:lnSpc>
                          <a:spcPct val="108000"/>
                        </a:lnSpc>
                        <a:spcAft>
                          <a:spcPts val="0"/>
                        </a:spcAft>
                      </a:pPr>
                      <a:r>
                        <a:rPr sz="1200">
                          <a:solidFill>
                            <a:srgbClr val="555252"/>
                          </a:solidFill>
                          <a:latin typeface="Inter"/>
                        </a:rPr>
                        <a:t>Misuse</a:t>
                      </a:r>
                    </a:p>
                  </a:txBody>
                  <a:tcPr marL="109728" marR="109728" marT="54864" marB="54864" anchor="t">
                    <a:solidFill>
                      <a:srgbClr val="FDFDFA"/>
                    </a:solidFill>
                  </a:tcPr>
                </a:tc>
                <a:tc>
                  <a:txBody>
                    <a:bodyPr wrap="square"/>
                    <a:lstStyle/>
                    <a:p>
                      <a:pPr>
                        <a:lnSpc>
                          <a:spcPct val="108000"/>
                        </a:lnSpc>
                        <a:spcAft>
                          <a:spcPts val="0"/>
                        </a:spcAft>
                      </a:pPr>
                      <a:r>
                        <a:rPr sz="1200">
                          <a:solidFill>
                            <a:srgbClr val="555252"/>
                          </a:solidFill>
                          <a:latin typeface="Inter"/>
                        </a:rPr>
                        <a:t>Bystanders and observed individuals</a:t>
                      </a:r>
                    </a:p>
                  </a:txBody>
                  <a:tcPr marL="109728" marR="109728" marT="54864" marB="54864" anchor="t">
                    <a:solidFill>
                      <a:srgbClr val="FDFDFA"/>
                    </a:solidFill>
                  </a:tcPr>
                </a:tc>
                <a:tc>
                  <a:txBody>
                    <a:bodyPr wrap="square"/>
                    <a:lstStyle/>
                    <a:p>
                      <a:pPr>
                        <a:lnSpc>
                          <a:spcPct val="108000"/>
                        </a:lnSpc>
                        <a:spcAft>
                          <a:spcPts val="0"/>
                        </a:spcAft>
                      </a:pPr>
                      <a:r>
                        <a:rPr sz="1200">
                          <a:solidFill>
                            <a:srgbClr val="555252"/>
                          </a:solidFill>
                          <a:latin typeface="Inter"/>
                        </a:rPr>
                        <a:t>Autonomy lowers the barrier to persistent observation</a:t>
                      </a:r>
                    </a:p>
                  </a:txBody>
                  <a:tcPr marL="109728" marR="109728" marT="54864" marB="54864" anchor="t">
                    <a:solidFill>
                      <a:srgbClr val="FDFDFA"/>
                    </a:solidFill>
                  </a:tcPr>
                </a:tc>
                <a:tc>
                  <a:txBody>
                    <a:bodyPr wrap="square"/>
                    <a:lstStyle/>
                    <a:p>
                      <a:pPr>
                        <a:lnSpc>
                          <a:spcPct val="108000"/>
                        </a:lnSpc>
                        <a:spcAft>
                          <a:spcPts val="0"/>
                        </a:spcAft>
                      </a:pPr>
                      <a:r>
                        <a:rPr sz="1200">
                          <a:solidFill>
                            <a:srgbClr val="555252"/>
                          </a:solidFill>
                          <a:latin typeface="Inter"/>
                        </a:rPr>
                        <a:t>No person detection, tracking or recording exists. Deliberate</a:t>
                      </a:r>
                    </a:p>
                  </a:txBody>
                  <a:tcPr marL="109728" marR="109728" marT="54864" marB="54864" anchor="t">
                    <a:solidFill>
                      <a:srgbClr val="FDFDFA"/>
                    </a:solidFill>
                  </a:tcPr>
                </a:tc>
              </a:tr>
              <a:tr h="640080">
                <a:tc>
                  <a:txBody>
                    <a:bodyPr wrap="square"/>
                    <a:lstStyle/>
                    <a:p>
                      <a:pPr>
                        <a:lnSpc>
                          <a:spcPct val="108000"/>
                        </a:lnSpc>
                        <a:spcAft>
                          <a:spcPts val="0"/>
                        </a:spcAft>
                      </a:pPr>
                      <a:r>
                        <a:rPr sz="1200">
                          <a:solidFill>
                            <a:srgbClr val="555252"/>
                          </a:solidFill>
                          <a:latin typeface="Inter"/>
                        </a:rPr>
                        <a:t>Oversight</a:t>
                      </a:r>
                    </a:p>
                  </a:txBody>
                  <a:tcPr marL="109728" marR="109728" marT="54864" marB="54864" anchor="t">
                    <a:solidFill>
                      <a:srgbClr val="EFEEEC"/>
                    </a:solidFill>
                  </a:tcPr>
                </a:tc>
                <a:tc>
                  <a:txBody>
                    <a:bodyPr wrap="square"/>
                    <a:lstStyle/>
                    <a:p>
                      <a:pPr>
                        <a:lnSpc>
                          <a:spcPct val="108000"/>
                        </a:lnSpc>
                        <a:spcAft>
                          <a:spcPts val="0"/>
                        </a:spcAft>
                      </a:pPr>
                      <a:r>
                        <a:rPr sz="1200">
                          <a:solidFill>
                            <a:srgbClr val="555252"/>
                          </a:solidFill>
                          <a:latin typeface="Inter"/>
                        </a:rPr>
                        <a:t>Bystanders and the operator</a:t>
                      </a:r>
                    </a:p>
                  </a:txBody>
                  <a:tcPr marL="109728" marR="109728" marT="54864" marB="54864" anchor="t">
                    <a:solidFill>
                      <a:srgbClr val="EFEEEC"/>
                    </a:solidFill>
                  </a:tcPr>
                </a:tc>
                <a:tc>
                  <a:txBody>
                    <a:bodyPr wrap="square"/>
                    <a:lstStyle/>
                    <a:p>
                      <a:pPr>
                        <a:lnSpc>
                          <a:spcPct val="108000"/>
                        </a:lnSpc>
                        <a:spcAft>
                          <a:spcPts val="0"/>
                        </a:spcAft>
                      </a:pPr>
                      <a:r>
                        <a:rPr sz="1200">
                          <a:solidFill>
                            <a:srgbClr val="555252"/>
                          </a:solidFill>
                          <a:latin typeface="Inter"/>
                        </a:rPr>
                        <a:t>Nobody accountable if the system is treated as responsible</a:t>
                      </a:r>
                    </a:p>
                  </a:txBody>
                  <a:tcPr marL="109728" marR="109728" marT="54864" marB="54864" anchor="t">
                    <a:solidFill>
                      <a:srgbClr val="EFEEEC"/>
                    </a:solidFill>
                  </a:tcPr>
                </a:tc>
                <a:tc>
                  <a:txBody>
                    <a:bodyPr wrap="square"/>
                    <a:lstStyle/>
                    <a:p>
                      <a:pPr>
                        <a:lnSpc>
                          <a:spcPct val="108000"/>
                        </a:lnSpc>
                        <a:spcAft>
                          <a:spcPts val="0"/>
                        </a:spcAft>
                      </a:pPr>
                      <a:r>
                        <a:rPr sz="1200">
                          <a:solidFill>
                            <a:srgbClr val="555252"/>
                          </a:solidFill>
                          <a:latin typeface="Inter"/>
                        </a:rPr>
                        <a:t>Named pilot in command. The stop layer cannot be overridden</a:t>
                      </a:r>
                    </a:p>
                  </a:txBody>
                  <a:tcPr marL="109728" marR="109728" marT="54864" marB="54864" anchor="t">
                    <a:solidFill>
                      <a:srgbClr val="EFEEEC"/>
                    </a:solidFill>
                  </a:tcPr>
                </a:tc>
              </a:tr>
            </a:tbl>
          </a:graphicData>
        </a:graphic>
      </p:graphicFrame>
      <p:sp>
        <p:nvSpPr>
          <p:cNvPr id="7" name="Rectangle 6"/>
          <p:cNvSpPr/>
          <p:nvPr/>
        </p:nvSpPr>
        <p:spPr>
          <a:xfrm>
            <a:off x="9418320" y="2057400"/>
            <a:ext cx="8046720" cy="3017520"/>
          </a:xfrm>
          <a:prstGeom prst="rect">
            <a:avLst/>
          </a:prstGeom>
          <a:solidFill>
            <a:srgbClr val="FDFDFA"/>
          </a:solidFill>
          <a:ln w="9144">
            <a:solidFill>
              <a:srgbClr val="D5D2C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802368" y="2386584"/>
            <a:ext cx="7278624" cy="2359152"/>
          </a:xfrm>
          <a:prstGeom prst="rect">
            <a:avLst/>
          </a:prstGeom>
          <a:noFill/>
        </p:spPr>
        <p:txBody>
          <a:bodyPr wrap="square" anchor="t" lIns="0" rIns="0" tIns="0" bIns="0">
            <a:spAutoFit/>
          </a:bodyPr>
          <a:lstStyle/>
          <a:p>
            <a:pPr algn="l">
              <a:lnSpc>
                <a:spcPct val="100000"/>
              </a:lnSpc>
              <a:spcBef>
                <a:spcPts val="0"/>
              </a:spcBef>
              <a:spcAft>
                <a:spcPts val="700"/>
              </a:spcAft>
            </a:pPr>
            <a:r>
              <a:rPr sz="2100">
                <a:solidFill>
                  <a:srgbClr val="403E3E"/>
                </a:solidFill>
                <a:latin typeface="Inter SemiBold"/>
              </a:rPr>
              <a:t>Economic conclusion</a:t>
            </a:r>
          </a:p>
          <a:p>
            <a:pPr algn="l">
              <a:lnSpc>
                <a:spcPct val="112000"/>
              </a:lnSpc>
              <a:spcBef>
                <a:spcPts val="0"/>
              </a:spcBef>
              <a:spcAft>
                <a:spcPts val="700"/>
              </a:spcAft>
            </a:pPr>
            <a:r>
              <a:rPr sz="1600">
                <a:solidFill>
                  <a:srgbClr val="555252"/>
                </a:solidFill>
                <a:latin typeface="Inter"/>
              </a:rPr>
              <a:t>The graded deliverable is unambiguously feasible. It costs nothing beyond hardware the team owns and time the semester already allocates.</a:t>
            </a:r>
          </a:p>
          <a:p>
            <a:pPr algn="l">
              <a:lnSpc>
                <a:spcPct val="112000"/>
              </a:lnSpc>
              <a:spcBef>
                <a:spcPts val="0"/>
              </a:spcBef>
              <a:spcAft>
                <a:spcPts val="700"/>
              </a:spcAft>
            </a:pPr>
            <a:r>
              <a:rPr sz="1600">
                <a:solidFill>
                  <a:srgbClr val="555252"/>
                </a:solidFill>
                <a:latin typeface="Inter"/>
              </a:rPr>
              <a:t>The airframe is the only real expenditure, and propulsion is deferred until all up mass and thrust to weight are known.</a:t>
            </a:r>
          </a:p>
        </p:txBody>
      </p:sp>
      <p:sp>
        <p:nvSpPr>
          <p:cNvPr id="9" name="Rectangle 8"/>
          <p:cNvSpPr/>
          <p:nvPr/>
        </p:nvSpPr>
        <p:spPr>
          <a:xfrm>
            <a:off x="9418320" y="5532120"/>
            <a:ext cx="8046720" cy="3200400"/>
          </a:xfrm>
          <a:prstGeom prst="rect">
            <a:avLst/>
          </a:prstGeom>
          <a:solidFill>
            <a:srgbClr val="40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802368" y="5861304"/>
            <a:ext cx="7278624" cy="2542032"/>
          </a:xfrm>
          <a:prstGeom prst="rect">
            <a:avLst/>
          </a:prstGeom>
          <a:noFill/>
        </p:spPr>
        <p:txBody>
          <a:bodyPr wrap="square" anchor="t" lIns="0" rIns="0" tIns="0" bIns="0">
            <a:spAutoFit/>
          </a:bodyPr>
          <a:lstStyle/>
          <a:p>
            <a:pPr algn="l">
              <a:lnSpc>
                <a:spcPct val="100000"/>
              </a:lnSpc>
              <a:spcBef>
                <a:spcPts val="0"/>
              </a:spcBef>
              <a:spcAft>
                <a:spcPts val="700"/>
              </a:spcAft>
            </a:pPr>
            <a:r>
              <a:rPr sz="2100">
                <a:solidFill>
                  <a:srgbClr val="EFEEEC"/>
                </a:solidFill>
                <a:latin typeface="Inter SemiBold"/>
              </a:rPr>
              <a:t>Ethical conclusion. It may proceed, with conditions</a:t>
            </a:r>
          </a:p>
          <a:p>
            <a:pPr algn="l">
              <a:lnSpc>
                <a:spcPct val="112000"/>
              </a:lnSpc>
              <a:spcBef>
                <a:spcPts val="0"/>
              </a:spcBef>
              <a:spcAft>
                <a:spcPts val="700"/>
              </a:spcAft>
            </a:pPr>
            <a:r>
              <a:rPr sz="1600">
                <a:solidFill>
                  <a:srgbClr val="C9C6C3"/>
                </a:solidFill>
                <a:latin typeface="Inter"/>
              </a:rPr>
              <a:t>Graded work stays in simulation. Flight begins indoors, enclosed, over soft flooring, guards fitted, override held.</a:t>
            </a:r>
          </a:p>
          <a:p>
            <a:pPr algn="l">
              <a:lnSpc>
                <a:spcPct val="112000"/>
              </a:lnSpc>
              <a:spcBef>
                <a:spcPts val="0"/>
              </a:spcBef>
              <a:spcAft>
                <a:spcPts val="700"/>
              </a:spcAft>
            </a:pPr>
            <a:r>
              <a:rPr sz="1600">
                <a:solidFill>
                  <a:srgbClr val="C9C6C3"/>
                </a:solidFill>
                <a:latin typeface="Inter"/>
              </a:rPr>
              <a:t>No transition until hover is stable and repeatable.</a:t>
            </a:r>
          </a:p>
          <a:p>
            <a:pPr algn="l">
              <a:lnSpc>
                <a:spcPct val="112000"/>
              </a:lnSpc>
              <a:spcBef>
                <a:spcPts val="0"/>
              </a:spcBef>
              <a:spcAft>
                <a:spcPts val="700"/>
              </a:spcAft>
            </a:pPr>
            <a:r>
              <a:rPr sz="1600">
                <a:solidFill>
                  <a:srgbClr val="C9C6C3"/>
                </a:solidFill>
                <a:latin typeface="Inter"/>
              </a:rPr>
              <a:t>Published results always quote estimated depth on held out courses. Overstating reliability for a system that can strike a person is a safety failure, not a presentational one.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FEEEC"/>
        </a:solidFill>
        <a:effectLst/>
      </p:bgPr>
    </p:bg>
    <p:spTree>
      <p:nvGrpSpPr>
        <p:cNvPr id="1" name=""/>
        <p:cNvGrpSpPr/>
        <p:nvPr/>
      </p:nvGrpSpPr>
      <p:grpSpPr/>
      <p:sp>
        <p:nvSpPr>
          <p:cNvPr id="2" name="TextBox 1"/>
          <p:cNvSpPr txBox="1"/>
          <p:nvPr/>
        </p:nvSpPr>
        <p:spPr>
          <a:xfrm>
            <a:off x="822960" y="576072"/>
            <a:ext cx="16733520" cy="1234440"/>
          </a:xfrm>
          <a:prstGeom prst="rect">
            <a:avLst/>
          </a:prstGeom>
          <a:noFill/>
        </p:spPr>
        <p:txBody>
          <a:bodyPr wrap="square" anchor="t" lIns="0" rIns="0" tIns="0" bIns="0">
            <a:spAutoFit/>
          </a:bodyPr>
          <a:lstStyle/>
          <a:p>
            <a:pPr algn="l">
              <a:lnSpc>
                <a:spcPct val="100000"/>
              </a:lnSpc>
              <a:spcBef>
                <a:spcPts val="0"/>
              </a:spcBef>
              <a:spcAft>
                <a:spcPts val="600"/>
              </a:spcAft>
            </a:pPr>
            <a:r>
              <a:rPr sz="1500">
                <a:solidFill>
                  <a:srgbClr val="8A8684"/>
                </a:solidFill>
                <a:latin typeface="Inter Light"/>
              </a:rPr>
              <a:t>WRITTEN SO EACH ONE CAN PASS OR FAIL</a:t>
            </a:r>
          </a:p>
          <a:p>
            <a:pPr algn="l">
              <a:lnSpc>
                <a:spcPct val="100000"/>
              </a:lnSpc>
              <a:spcBef>
                <a:spcPts val="0"/>
              </a:spcBef>
              <a:spcAft>
                <a:spcPts val="0"/>
              </a:spcAft>
            </a:pPr>
            <a:r>
              <a:rPr sz="4350">
                <a:solidFill>
                  <a:srgbClr val="403E3E"/>
                </a:solidFill>
                <a:latin typeface="Inter"/>
              </a:rPr>
              <a:t>Requirements Engineering</a:t>
            </a:r>
          </a:p>
        </p:txBody>
      </p:sp>
      <p:sp>
        <p:nvSpPr>
          <p:cNvPr id="3" name="Rectangle 2"/>
          <p:cNvSpPr/>
          <p:nvPr/>
        </p:nvSpPr>
        <p:spPr>
          <a:xfrm>
            <a:off x="822960" y="1755648"/>
            <a:ext cx="16642080" cy="18288"/>
          </a:xfrm>
          <a:prstGeom prst="rect">
            <a:avLst/>
          </a:prstGeom>
          <a:solidFill>
            <a:srgbClr val="D5D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6824960" y="9509760"/>
            <a:ext cx="640080" cy="320040"/>
          </a:xfrm>
          <a:prstGeom prst="rect">
            <a:avLst/>
          </a:prstGeom>
          <a:noFill/>
        </p:spPr>
        <p:txBody>
          <a:bodyPr wrap="square" anchor="t" lIns="0" rIns="0" tIns="0" bIns="0">
            <a:spAutoFit/>
          </a:bodyPr>
          <a:lstStyle/>
          <a:p>
            <a:pPr algn="r">
              <a:lnSpc>
                <a:spcPct val="100000"/>
              </a:lnSpc>
              <a:spcBef>
                <a:spcPts val="0"/>
              </a:spcBef>
              <a:spcAft>
                <a:spcPts val="400"/>
              </a:spcAft>
            </a:pPr>
            <a:r>
              <a:rPr sz="1300">
                <a:solidFill>
                  <a:srgbClr val="8A8684"/>
                </a:solidFill>
                <a:latin typeface="Inter Light"/>
              </a:rPr>
              <a:t>9</a:t>
            </a:r>
          </a:p>
        </p:txBody>
      </p:sp>
      <p:sp>
        <p:nvSpPr>
          <p:cNvPr id="5" name="Rectangle 4"/>
          <p:cNvSpPr/>
          <p:nvPr/>
        </p:nvSpPr>
        <p:spPr>
          <a:xfrm>
            <a:off x="822960" y="2057400"/>
            <a:ext cx="8138160" cy="3200400"/>
          </a:xfrm>
          <a:prstGeom prst="rect">
            <a:avLst/>
          </a:prstGeom>
          <a:solidFill>
            <a:srgbClr val="FDFDFA"/>
          </a:solidFill>
          <a:ln w="9144">
            <a:solidFill>
              <a:srgbClr val="D5D2C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07008" y="2386584"/>
            <a:ext cx="7370064" cy="2542032"/>
          </a:xfrm>
          <a:prstGeom prst="rect">
            <a:avLst/>
          </a:prstGeom>
          <a:noFill/>
        </p:spPr>
        <p:txBody>
          <a:bodyPr wrap="square" anchor="t" lIns="0" rIns="0" tIns="0" bIns="0">
            <a:spAutoFit/>
          </a:bodyPr>
          <a:lstStyle/>
          <a:p>
            <a:pPr algn="l">
              <a:lnSpc>
                <a:spcPct val="100000"/>
              </a:lnSpc>
              <a:spcBef>
                <a:spcPts val="0"/>
              </a:spcBef>
              <a:spcAft>
                <a:spcPts val="700"/>
              </a:spcAft>
            </a:pPr>
            <a:r>
              <a:rPr sz="2100">
                <a:solidFill>
                  <a:srgbClr val="403E3E"/>
                </a:solidFill>
                <a:latin typeface="Inter SemiBold"/>
              </a:rPr>
              <a:t>Functional</a:t>
            </a:r>
          </a:p>
          <a:p>
            <a:pPr algn="l">
              <a:lnSpc>
                <a:spcPct val="112000"/>
              </a:lnSpc>
              <a:spcBef>
                <a:spcPts val="0"/>
              </a:spcBef>
              <a:spcAft>
                <a:spcPts val="700"/>
              </a:spcAft>
            </a:pPr>
            <a:r>
              <a:rPr sz="1600">
                <a:solidFill>
                  <a:srgbClr val="555252"/>
                </a:solidFill>
                <a:latin typeface="Inter"/>
              </a:rPr>
              <a:t>FR3  A safety layer refuses forward motion whenever the nearest surface at flying height is inside 1.2 m, overriding the policy.</a:t>
            </a:r>
          </a:p>
          <a:p>
            <a:pPr algn="l">
              <a:lnSpc>
                <a:spcPct val="112000"/>
              </a:lnSpc>
              <a:spcBef>
                <a:spcPts val="0"/>
              </a:spcBef>
              <a:spcAft>
                <a:spcPts val="700"/>
              </a:spcAft>
            </a:pPr>
            <a:r>
              <a:rPr sz="1600">
                <a:solidFill>
                  <a:srgbClr val="555252"/>
                </a:solidFill>
                <a:latin typeface="Inter"/>
              </a:rPr>
              <a:t>FR4  The aircraft flies an ordered sequence of operator specified stations with no further human input.</a:t>
            </a:r>
          </a:p>
          <a:p>
            <a:pPr algn="l">
              <a:lnSpc>
                <a:spcPct val="112000"/>
              </a:lnSpc>
              <a:spcBef>
                <a:spcPts val="0"/>
              </a:spcBef>
              <a:spcAft>
                <a:spcPts val="700"/>
              </a:spcAft>
            </a:pPr>
            <a:r>
              <a:rPr sz="1600">
                <a:solidFill>
                  <a:srgbClr val="555252"/>
                </a:solidFill>
                <a:latin typeface="Inter"/>
              </a:rPr>
              <a:t>FR6  A given integer seed always produces the identical obstacle layout.</a:t>
            </a:r>
          </a:p>
        </p:txBody>
      </p:sp>
      <p:sp>
        <p:nvSpPr>
          <p:cNvPr id="7" name="Rectangle 6"/>
          <p:cNvSpPr/>
          <p:nvPr/>
        </p:nvSpPr>
        <p:spPr>
          <a:xfrm>
            <a:off x="822960" y="5550408"/>
            <a:ext cx="8138160" cy="3200400"/>
          </a:xfrm>
          <a:prstGeom prst="rect">
            <a:avLst/>
          </a:prstGeom>
          <a:solidFill>
            <a:srgbClr val="FDFDFA"/>
          </a:solidFill>
          <a:ln w="9144">
            <a:solidFill>
              <a:srgbClr val="D5D2C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207008" y="5879592"/>
            <a:ext cx="7370064" cy="2542032"/>
          </a:xfrm>
          <a:prstGeom prst="rect">
            <a:avLst/>
          </a:prstGeom>
          <a:noFill/>
        </p:spPr>
        <p:txBody>
          <a:bodyPr wrap="square" anchor="t" lIns="0" rIns="0" tIns="0" bIns="0">
            <a:spAutoFit/>
          </a:bodyPr>
          <a:lstStyle/>
          <a:p>
            <a:pPr algn="l">
              <a:lnSpc>
                <a:spcPct val="100000"/>
              </a:lnSpc>
              <a:spcBef>
                <a:spcPts val="0"/>
              </a:spcBef>
              <a:spcAft>
                <a:spcPts val="700"/>
              </a:spcAft>
            </a:pPr>
            <a:r>
              <a:rPr sz="2100">
                <a:solidFill>
                  <a:srgbClr val="403E3E"/>
                </a:solidFill>
                <a:latin typeface="Inter SemiBold"/>
              </a:rPr>
              <a:t>Non functional</a:t>
            </a:r>
          </a:p>
          <a:p>
            <a:pPr algn="l">
              <a:lnSpc>
                <a:spcPct val="112000"/>
              </a:lnSpc>
              <a:spcBef>
                <a:spcPts val="0"/>
              </a:spcBef>
              <a:spcAft>
                <a:spcPts val="700"/>
              </a:spcAft>
            </a:pPr>
            <a:r>
              <a:rPr sz="1600">
                <a:solidFill>
                  <a:srgbClr val="555252"/>
                </a:solidFill>
                <a:latin typeface="Inter"/>
              </a:rPr>
              <a:t>NFR3  Camera to command latency at most 100 ms at 2 m/s. Derived below, not chosen.</a:t>
            </a:r>
          </a:p>
          <a:p>
            <a:pPr algn="l">
              <a:lnSpc>
                <a:spcPct val="112000"/>
              </a:lnSpc>
              <a:spcBef>
                <a:spcPts val="0"/>
              </a:spcBef>
              <a:spcAft>
                <a:spcPts val="700"/>
              </a:spcAft>
            </a:pPr>
            <a:r>
              <a:rPr sz="1600">
                <a:solidFill>
                  <a:srgbClr val="555252"/>
                </a:solidFill>
                <a:latin typeface="Inter"/>
              </a:rPr>
              <a:t>NFR4  Zero contacts across 20 runs with the steering policy disabled and only the stop rule active.</a:t>
            </a:r>
          </a:p>
          <a:p>
            <a:pPr algn="l">
              <a:lnSpc>
                <a:spcPct val="112000"/>
              </a:lnSpc>
              <a:spcBef>
                <a:spcPts val="0"/>
              </a:spcBef>
              <a:spcAft>
                <a:spcPts val="700"/>
              </a:spcAft>
            </a:pPr>
            <a:r>
              <a:rPr sz="1600">
                <a:solidFill>
                  <a:srgbClr val="555252"/>
                </a:solidFill>
                <a:latin typeface="Inter"/>
              </a:rPr>
              <a:t>NFR5  At least 0.80 of pixels within a factor of 1.25 of true depth on NYU, after aligning scale and offset.</a:t>
            </a:r>
          </a:p>
        </p:txBody>
      </p:sp>
      <p:sp>
        <p:nvSpPr>
          <p:cNvPr id="9" name="Rectangle 8"/>
          <p:cNvSpPr/>
          <p:nvPr/>
        </p:nvSpPr>
        <p:spPr>
          <a:xfrm>
            <a:off x="9326880" y="2057400"/>
            <a:ext cx="8138160" cy="3200400"/>
          </a:xfrm>
          <a:prstGeom prst="rect">
            <a:avLst/>
          </a:prstGeom>
          <a:solidFill>
            <a:srgbClr val="FDFDFA"/>
          </a:solidFill>
          <a:ln w="9144">
            <a:solidFill>
              <a:srgbClr val="D5D2C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10928" y="2386584"/>
            <a:ext cx="7370064" cy="2542032"/>
          </a:xfrm>
          <a:prstGeom prst="rect">
            <a:avLst/>
          </a:prstGeom>
          <a:noFill/>
        </p:spPr>
        <p:txBody>
          <a:bodyPr wrap="square" anchor="t" lIns="0" rIns="0" tIns="0" bIns="0">
            <a:spAutoFit/>
          </a:bodyPr>
          <a:lstStyle/>
          <a:p>
            <a:pPr algn="l">
              <a:lnSpc>
                <a:spcPct val="100000"/>
              </a:lnSpc>
              <a:spcBef>
                <a:spcPts val="0"/>
              </a:spcBef>
              <a:spcAft>
                <a:spcPts val="700"/>
              </a:spcAft>
            </a:pPr>
            <a:r>
              <a:rPr sz="2100">
                <a:solidFill>
                  <a:srgbClr val="403E3E"/>
                </a:solidFill>
                <a:latin typeface="Inter SemiBold"/>
              </a:rPr>
              <a:t>Data</a:t>
            </a:r>
          </a:p>
          <a:p>
            <a:pPr algn="l">
              <a:lnSpc>
                <a:spcPct val="112000"/>
              </a:lnSpc>
              <a:spcBef>
                <a:spcPts val="0"/>
              </a:spcBef>
              <a:spcAft>
                <a:spcPts val="700"/>
              </a:spcAft>
            </a:pPr>
            <a:r>
              <a:rPr sz="1600">
                <a:solidFill>
                  <a:srgbClr val="555252"/>
                </a:solidFill>
                <a:latin typeface="Inter"/>
              </a:rPr>
              <a:t>At least 5,000 colour and true depth pairs from seeded courses, plus the NYU and KITTI evaluation splits.</a:t>
            </a:r>
          </a:p>
          <a:p>
            <a:pPr algn="l">
              <a:lnSpc>
                <a:spcPct val="112000"/>
              </a:lnSpc>
              <a:spcBef>
                <a:spcPts val="0"/>
              </a:spcBef>
              <a:spcAft>
                <a:spcPts val="700"/>
              </a:spcAft>
            </a:pPr>
            <a:r>
              <a:rPr sz="1600">
                <a:solidFill>
                  <a:srgbClr val="555252"/>
                </a:solidFill>
                <a:latin typeface="Inter"/>
              </a:rPr>
              <a:t>Camera intrinsics recorded for every source so comparisons between sources are valid.</a:t>
            </a:r>
          </a:p>
          <a:p>
            <a:pPr algn="l">
              <a:lnSpc>
                <a:spcPct val="112000"/>
              </a:lnSpc>
              <a:spcBef>
                <a:spcPts val="0"/>
              </a:spcBef>
              <a:spcAft>
                <a:spcPts val="700"/>
              </a:spcAft>
            </a:pPr>
            <a:r>
              <a:rPr sz="1600">
                <a:solidFill>
                  <a:srgbClr val="555252"/>
                </a:solidFill>
                <a:latin typeface="Inter"/>
              </a:rPr>
              <a:t>Courses are regenerated from committed seeds rather than stored. The seed list is the dataset.</a:t>
            </a:r>
          </a:p>
        </p:txBody>
      </p:sp>
      <p:sp>
        <p:nvSpPr>
          <p:cNvPr id="11" name="Rectangle 10"/>
          <p:cNvSpPr/>
          <p:nvPr/>
        </p:nvSpPr>
        <p:spPr>
          <a:xfrm>
            <a:off x="9326880" y="5550408"/>
            <a:ext cx="8138160" cy="3200400"/>
          </a:xfrm>
          <a:prstGeom prst="rect">
            <a:avLst/>
          </a:prstGeom>
          <a:solidFill>
            <a:srgbClr val="40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710928" y="5879592"/>
            <a:ext cx="7370064" cy="2542032"/>
          </a:xfrm>
          <a:prstGeom prst="rect">
            <a:avLst/>
          </a:prstGeom>
          <a:noFill/>
        </p:spPr>
        <p:txBody>
          <a:bodyPr wrap="square" anchor="t" lIns="0" rIns="0" tIns="0" bIns="0">
            <a:spAutoFit/>
          </a:bodyPr>
          <a:lstStyle/>
          <a:p>
            <a:pPr algn="l">
              <a:lnSpc>
                <a:spcPct val="100000"/>
              </a:lnSpc>
              <a:spcBef>
                <a:spcPts val="0"/>
              </a:spcBef>
              <a:spcAft>
                <a:spcPts val="700"/>
              </a:spcAft>
            </a:pPr>
            <a:r>
              <a:rPr sz="2100">
                <a:solidFill>
                  <a:srgbClr val="EFEEEC"/>
                </a:solidFill>
                <a:latin typeface="Inter SemiBold"/>
              </a:rPr>
              <a:t>Ethical</a:t>
            </a:r>
          </a:p>
          <a:p>
            <a:pPr algn="l">
              <a:lnSpc>
                <a:spcPct val="112000"/>
              </a:lnSpc>
              <a:spcBef>
                <a:spcPts val="0"/>
              </a:spcBef>
              <a:spcAft>
                <a:spcPts val="700"/>
              </a:spcAft>
            </a:pPr>
            <a:r>
              <a:rPr sz="1600">
                <a:solidFill>
                  <a:srgbClr val="C9C6C3"/>
                </a:solidFill>
                <a:latin typeface="Inter"/>
              </a:rPr>
              <a:t>No camera frame is written to disk during flight, and no imagery leaves the operator's own equipment.</a:t>
            </a:r>
          </a:p>
          <a:p>
            <a:pPr algn="l">
              <a:lnSpc>
                <a:spcPct val="112000"/>
              </a:lnSpc>
              <a:spcBef>
                <a:spcPts val="0"/>
              </a:spcBef>
              <a:spcAft>
                <a:spcPts val="700"/>
              </a:spcAft>
            </a:pPr>
            <a:r>
              <a:rPr sz="1600">
                <a:solidFill>
                  <a:srgbClr val="C9C6C3"/>
                </a:solidFill>
                <a:latin typeface="Inter"/>
              </a:rPr>
              <a:t>Known failure modes are published in the model documentation rather than hidden.</a:t>
            </a:r>
          </a:p>
          <a:p>
            <a:pPr algn="l">
              <a:lnSpc>
                <a:spcPct val="112000"/>
              </a:lnSpc>
              <a:spcBef>
                <a:spcPts val="0"/>
              </a:spcBef>
              <a:spcAft>
                <a:spcPts val="700"/>
              </a:spcAft>
            </a:pPr>
            <a:r>
              <a:rPr sz="1600">
                <a:solidFill>
                  <a:srgbClr val="C9C6C3"/>
                </a:solidFill>
                <a:latin typeface="Inter"/>
              </a:rPr>
              <a:t>The headline figure is always estimated depth on held out courses. The perfect depth result is reported beside it as a stated ceiling.</a:t>
            </a:r>
          </a:p>
        </p:txBody>
      </p:sp>
      <p:sp>
        <p:nvSpPr>
          <p:cNvPr id="13" name="TextBox 12"/>
          <p:cNvSpPr txBox="1"/>
          <p:nvPr/>
        </p:nvSpPr>
        <p:spPr>
          <a:xfrm>
            <a:off x="822960" y="9006840"/>
            <a:ext cx="16642080" cy="457200"/>
          </a:xfrm>
          <a:prstGeom prst="rect">
            <a:avLst/>
          </a:prstGeom>
          <a:noFill/>
        </p:spPr>
        <p:txBody>
          <a:bodyPr wrap="square" anchor="t" lIns="0" rIns="0" tIns="0" bIns="0">
            <a:spAutoFit/>
          </a:bodyPr>
          <a:lstStyle/>
          <a:p>
            <a:pPr algn="l">
              <a:lnSpc>
                <a:spcPct val="100000"/>
              </a:lnSpc>
              <a:spcBef>
                <a:spcPts val="0"/>
              </a:spcBef>
              <a:spcAft>
                <a:spcPts val="400"/>
              </a:spcAft>
            </a:pPr>
            <a:r>
              <a:rPr sz="1450">
                <a:solidFill>
                  <a:srgbClr val="8A8684"/>
                </a:solidFill>
                <a:latin typeface="Inter Light"/>
              </a:rPr>
              <a:t>The latency budget is derived. At 2 m/s the aircraft travels 0.20 m during a 100 ms delay and needs 0.67 m more to slow at 3 m/s squared, so stopping takes 0.87 m before any margin. That is why FR3 sits above one metre.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FEEEC"/>
        </a:solidFill>
        <a:effectLst/>
      </p:bgPr>
    </p:bg>
    <p:spTree>
      <p:nvGrpSpPr>
        <p:cNvPr id="1" name=""/>
        <p:cNvGrpSpPr/>
        <p:nvPr/>
      </p:nvGrpSpPr>
      <p:grpSpPr/>
      <p:sp>
        <p:nvSpPr>
          <p:cNvPr id="2" name="TextBox 1"/>
          <p:cNvSpPr txBox="1"/>
          <p:nvPr/>
        </p:nvSpPr>
        <p:spPr>
          <a:xfrm>
            <a:off x="822960" y="576072"/>
            <a:ext cx="16733520" cy="1234440"/>
          </a:xfrm>
          <a:prstGeom prst="rect">
            <a:avLst/>
          </a:prstGeom>
          <a:noFill/>
        </p:spPr>
        <p:txBody>
          <a:bodyPr wrap="square" anchor="t" lIns="0" rIns="0" tIns="0" bIns="0">
            <a:spAutoFit/>
          </a:bodyPr>
          <a:lstStyle/>
          <a:p>
            <a:pPr algn="l">
              <a:lnSpc>
                <a:spcPct val="100000"/>
              </a:lnSpc>
              <a:spcBef>
                <a:spcPts val="0"/>
              </a:spcBef>
              <a:spcAft>
                <a:spcPts val="600"/>
              </a:spcAft>
            </a:pPr>
            <a:r>
              <a:rPr sz="1500">
                <a:solidFill>
                  <a:srgbClr val="8A8684"/>
                </a:solidFill>
                <a:latin typeface="Inter Light"/>
              </a:rPr>
              <a:t>THE LEAST INFLUENCE, THE MOST AT STAKE</a:t>
            </a:r>
          </a:p>
          <a:p>
            <a:pPr algn="l">
              <a:lnSpc>
                <a:spcPct val="100000"/>
              </a:lnSpc>
              <a:spcBef>
                <a:spcPts val="0"/>
              </a:spcBef>
              <a:spcAft>
                <a:spcPts val="0"/>
              </a:spcAft>
            </a:pPr>
            <a:r>
              <a:rPr sz="4350">
                <a:solidFill>
                  <a:srgbClr val="403E3E"/>
                </a:solidFill>
                <a:latin typeface="Inter"/>
              </a:rPr>
              <a:t>Stakeholder Management</a:t>
            </a:r>
          </a:p>
        </p:txBody>
      </p:sp>
      <p:sp>
        <p:nvSpPr>
          <p:cNvPr id="3" name="Rectangle 2"/>
          <p:cNvSpPr/>
          <p:nvPr/>
        </p:nvSpPr>
        <p:spPr>
          <a:xfrm>
            <a:off x="822960" y="1755648"/>
            <a:ext cx="16642080" cy="18288"/>
          </a:xfrm>
          <a:prstGeom prst="rect">
            <a:avLst/>
          </a:prstGeom>
          <a:solidFill>
            <a:srgbClr val="D5D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6824960" y="9509760"/>
            <a:ext cx="640080" cy="320040"/>
          </a:xfrm>
          <a:prstGeom prst="rect">
            <a:avLst/>
          </a:prstGeom>
          <a:noFill/>
        </p:spPr>
        <p:txBody>
          <a:bodyPr wrap="square" anchor="t" lIns="0" rIns="0" tIns="0" bIns="0">
            <a:spAutoFit/>
          </a:bodyPr>
          <a:lstStyle/>
          <a:p>
            <a:pPr algn="r">
              <a:lnSpc>
                <a:spcPct val="100000"/>
              </a:lnSpc>
              <a:spcBef>
                <a:spcPts val="0"/>
              </a:spcBef>
              <a:spcAft>
                <a:spcPts val="400"/>
              </a:spcAft>
            </a:pPr>
            <a:r>
              <a:rPr sz="1300">
                <a:solidFill>
                  <a:srgbClr val="8A8684"/>
                </a:solidFill>
                <a:latin typeface="Inter Light"/>
              </a:rPr>
              <a:t>10</a:t>
            </a:r>
          </a:p>
        </p:txBody>
      </p:sp>
      <p:graphicFrame>
        <p:nvGraphicFramePr>
          <p:cNvPr id="5" name="Table 4"/>
          <p:cNvGraphicFramePr>
            <a:graphicFrameLocks noGrp="1"/>
          </p:cNvGraphicFramePr>
          <p:nvPr/>
        </p:nvGraphicFramePr>
        <p:xfrm>
          <a:off x="822960" y="2057400"/>
          <a:ext cx="11155680" cy="6035040"/>
        </p:xfrm>
        <a:graphic>
          <a:graphicData uri="http://schemas.openxmlformats.org/drawingml/2006/table">
            <a:tbl>
              <a:tblPr firstRow="1" bandRow="1">
                <a:tableStyleId>{5C22544A-7EE6-4342-B048-85BDC9FD1C3A}</a:tableStyleId>
              </a:tblPr>
              <a:tblGrid>
                <a:gridCol w="2377440"/>
                <a:gridCol w="3657600"/>
                <a:gridCol w="1737360"/>
                <a:gridCol w="3383280"/>
              </a:tblGrid>
              <a:tr h="670560">
                <a:tc>
                  <a:txBody>
                    <a:bodyPr wrap="square"/>
                    <a:lstStyle/>
                    <a:p>
                      <a:pPr>
                        <a:spcAft>
                          <a:spcPts val="0"/>
                        </a:spcAft>
                      </a:pPr>
                      <a:r>
                        <a:rPr sz="1400">
                          <a:solidFill>
                            <a:srgbClr val="EFEEEC"/>
                          </a:solidFill>
                          <a:latin typeface="Inter SemiBold"/>
                        </a:rPr>
                        <a:t>Stakeholder</a:t>
                      </a:r>
                    </a:p>
                  </a:txBody>
                  <a:tcPr marL="109728" marR="109728" marT="64008" marB="64008" anchor="ctr">
                    <a:solidFill>
                      <a:srgbClr val="403E3E"/>
                    </a:solidFill>
                  </a:tcPr>
                </a:tc>
                <a:tc>
                  <a:txBody>
                    <a:bodyPr wrap="square"/>
                    <a:lstStyle/>
                    <a:p>
                      <a:pPr>
                        <a:spcAft>
                          <a:spcPts val="0"/>
                        </a:spcAft>
                      </a:pPr>
                      <a:r>
                        <a:rPr sz="1400">
                          <a:solidFill>
                            <a:srgbClr val="EFEEEC"/>
                          </a:solidFill>
                          <a:latin typeface="Inter SemiBold"/>
                        </a:rPr>
                        <a:t>Role or interest</a:t>
                      </a:r>
                    </a:p>
                  </a:txBody>
                  <a:tcPr marL="109728" marR="109728" marT="64008" marB="64008" anchor="ctr">
                    <a:solidFill>
                      <a:srgbClr val="403E3E"/>
                    </a:solidFill>
                  </a:tcPr>
                </a:tc>
                <a:tc>
                  <a:txBody>
                    <a:bodyPr wrap="square"/>
                    <a:lstStyle/>
                    <a:p>
                      <a:pPr>
                        <a:spcAft>
                          <a:spcPts val="0"/>
                        </a:spcAft>
                      </a:pPr>
                      <a:r>
                        <a:rPr sz="1400">
                          <a:solidFill>
                            <a:srgbClr val="EFEEEC"/>
                          </a:solidFill>
                          <a:latin typeface="Inter SemiBold"/>
                        </a:rPr>
                        <a:t>Influence</a:t>
                      </a:r>
                    </a:p>
                  </a:txBody>
                  <a:tcPr marL="109728" marR="109728" marT="64008" marB="64008" anchor="ctr">
                    <a:solidFill>
                      <a:srgbClr val="403E3E"/>
                    </a:solidFill>
                  </a:tcPr>
                </a:tc>
                <a:tc>
                  <a:txBody>
                    <a:bodyPr wrap="square"/>
                    <a:lstStyle/>
                    <a:p>
                      <a:pPr>
                        <a:spcAft>
                          <a:spcPts val="0"/>
                        </a:spcAft>
                      </a:pPr>
                      <a:r>
                        <a:rPr sz="1400">
                          <a:solidFill>
                            <a:srgbClr val="EFEEEC"/>
                          </a:solidFill>
                          <a:latin typeface="Inter SemiBold"/>
                        </a:rPr>
                        <a:t>Main concern</a:t>
                      </a:r>
                    </a:p>
                  </a:txBody>
                  <a:tcPr marL="109728" marR="109728" marT="64008" marB="64008" anchor="ctr">
                    <a:solidFill>
                      <a:srgbClr val="403E3E"/>
                    </a:solidFill>
                  </a:tcPr>
                </a:tc>
              </a:tr>
              <a:tr h="670560">
                <a:tc>
                  <a:txBody>
                    <a:bodyPr wrap="square"/>
                    <a:lstStyle/>
                    <a:p>
                      <a:pPr>
                        <a:lnSpc>
                          <a:spcPct val="108000"/>
                        </a:lnSpc>
                        <a:spcAft>
                          <a:spcPts val="0"/>
                        </a:spcAft>
                      </a:pPr>
                      <a:r>
                        <a:rPr sz="1250">
                          <a:solidFill>
                            <a:srgbClr val="555252"/>
                          </a:solidFill>
                          <a:latin typeface="Inter"/>
                        </a:rPr>
                        <a:t>Bystanders on the ground</a:t>
                      </a:r>
                    </a:p>
                  </a:txBody>
                  <a:tcPr marL="109728" marR="109728" marT="54864" marB="54864" anchor="t">
                    <a:solidFill>
                      <a:srgbClr val="FDFDFA"/>
                    </a:solidFill>
                  </a:tcPr>
                </a:tc>
                <a:tc>
                  <a:txBody>
                    <a:bodyPr wrap="square"/>
                    <a:lstStyle/>
                    <a:p>
                      <a:pPr>
                        <a:lnSpc>
                          <a:spcPct val="108000"/>
                        </a:lnSpc>
                        <a:spcAft>
                          <a:spcPts val="0"/>
                        </a:spcAft>
                      </a:pPr>
                      <a:r>
                        <a:rPr sz="1250">
                          <a:solidFill>
                            <a:srgbClr val="555252"/>
                          </a:solidFill>
                          <a:latin typeface="Inter"/>
                        </a:rPr>
                        <a:t>Present beneath the aircraft. Agreed to nothing, gain nothing</a:t>
                      </a:r>
                    </a:p>
                  </a:txBody>
                  <a:tcPr marL="109728" marR="109728" marT="54864" marB="54864" anchor="t">
                    <a:solidFill>
                      <a:srgbClr val="FDFDFA"/>
                    </a:solidFill>
                  </a:tcPr>
                </a:tc>
                <a:tc>
                  <a:txBody>
                    <a:bodyPr wrap="square"/>
                    <a:lstStyle/>
                    <a:p>
                      <a:pPr>
                        <a:lnSpc>
                          <a:spcPct val="108000"/>
                        </a:lnSpc>
                        <a:spcAft>
                          <a:spcPts val="0"/>
                        </a:spcAft>
                      </a:pPr>
                      <a:r>
                        <a:rPr sz="1250">
                          <a:solidFill>
                            <a:srgbClr val="555252"/>
                          </a:solidFill>
                          <a:latin typeface="Inter"/>
                        </a:rPr>
                        <a:t>Very low</a:t>
                      </a:r>
                    </a:p>
                  </a:txBody>
                  <a:tcPr marL="109728" marR="109728" marT="54864" marB="54864" anchor="t">
                    <a:solidFill>
                      <a:srgbClr val="FDFDFA"/>
                    </a:solidFill>
                  </a:tcPr>
                </a:tc>
                <a:tc>
                  <a:txBody>
                    <a:bodyPr wrap="square"/>
                    <a:lstStyle/>
                    <a:p>
                      <a:pPr>
                        <a:lnSpc>
                          <a:spcPct val="108000"/>
                        </a:lnSpc>
                        <a:spcAft>
                          <a:spcPts val="0"/>
                        </a:spcAft>
                      </a:pPr>
                      <a:r>
                        <a:rPr sz="1250">
                          <a:solidFill>
                            <a:srgbClr val="555252"/>
                          </a:solidFill>
                          <a:latin typeface="Inter"/>
                        </a:rPr>
                        <a:t>Injury from a collision. Being recorded without consent</a:t>
                      </a:r>
                    </a:p>
                  </a:txBody>
                  <a:tcPr marL="109728" marR="109728" marT="54864" marB="54864" anchor="t">
                    <a:solidFill>
                      <a:srgbClr val="FDFDFA"/>
                    </a:solidFill>
                  </a:tcPr>
                </a:tc>
              </a:tr>
              <a:tr h="670560">
                <a:tc>
                  <a:txBody>
                    <a:bodyPr wrap="square"/>
                    <a:lstStyle/>
                    <a:p>
                      <a:pPr>
                        <a:lnSpc>
                          <a:spcPct val="108000"/>
                        </a:lnSpc>
                        <a:spcAft>
                          <a:spcPts val="0"/>
                        </a:spcAft>
                      </a:pPr>
                      <a:r>
                        <a:rPr sz="1250">
                          <a:solidFill>
                            <a:srgbClr val="555252"/>
                          </a:solidFill>
                          <a:latin typeface="Inter"/>
                        </a:rPr>
                        <a:t>Property owners</a:t>
                      </a:r>
                    </a:p>
                  </a:txBody>
                  <a:tcPr marL="109728" marR="109728" marT="54864" marB="54864" anchor="t">
                    <a:solidFill>
                      <a:srgbClr val="EFEEEC"/>
                    </a:solidFill>
                  </a:tcPr>
                </a:tc>
                <a:tc>
                  <a:txBody>
                    <a:bodyPr wrap="square"/>
                    <a:lstStyle/>
                    <a:p>
                      <a:pPr>
                        <a:lnSpc>
                          <a:spcPct val="108000"/>
                        </a:lnSpc>
                        <a:spcAft>
                          <a:spcPts val="0"/>
                        </a:spcAft>
                      </a:pPr>
                      <a:r>
                        <a:rPr sz="1250">
                          <a:solidFill>
                            <a:srgbClr val="555252"/>
                          </a:solidFill>
                          <a:latin typeface="Inter"/>
                        </a:rPr>
                        <a:t>Own the buildings and vehicles flown near</a:t>
                      </a:r>
                    </a:p>
                  </a:txBody>
                  <a:tcPr marL="109728" marR="109728" marT="54864" marB="54864" anchor="t">
                    <a:solidFill>
                      <a:srgbClr val="EFEEEC"/>
                    </a:solidFill>
                  </a:tcPr>
                </a:tc>
                <a:tc>
                  <a:txBody>
                    <a:bodyPr wrap="square"/>
                    <a:lstStyle/>
                    <a:p>
                      <a:pPr>
                        <a:lnSpc>
                          <a:spcPct val="108000"/>
                        </a:lnSpc>
                        <a:spcAft>
                          <a:spcPts val="0"/>
                        </a:spcAft>
                      </a:pPr>
                      <a:r>
                        <a:rPr sz="1250">
                          <a:solidFill>
                            <a:srgbClr val="555252"/>
                          </a:solidFill>
                          <a:latin typeface="Inter"/>
                        </a:rPr>
                        <a:t>Low in flight, high after</a:t>
                      </a:r>
                    </a:p>
                  </a:txBody>
                  <a:tcPr marL="109728" marR="109728" marT="54864" marB="54864" anchor="t">
                    <a:solidFill>
                      <a:srgbClr val="EFEEEC"/>
                    </a:solidFill>
                  </a:tcPr>
                </a:tc>
                <a:tc>
                  <a:txBody>
                    <a:bodyPr wrap="square"/>
                    <a:lstStyle/>
                    <a:p>
                      <a:pPr>
                        <a:lnSpc>
                          <a:spcPct val="108000"/>
                        </a:lnSpc>
                        <a:spcAft>
                          <a:spcPts val="0"/>
                        </a:spcAft>
                      </a:pPr>
                      <a:r>
                        <a:rPr sz="1250">
                          <a:solidFill>
                            <a:srgbClr val="555252"/>
                          </a:solidFill>
                          <a:latin typeface="Inter"/>
                        </a:rPr>
                        <a:t>Damage. Overflight without permission</a:t>
                      </a:r>
                    </a:p>
                  </a:txBody>
                  <a:tcPr marL="109728" marR="109728" marT="54864" marB="54864" anchor="t">
                    <a:solidFill>
                      <a:srgbClr val="EFEEEC"/>
                    </a:solidFill>
                  </a:tcPr>
                </a:tc>
              </a:tr>
              <a:tr h="670560">
                <a:tc>
                  <a:txBody>
                    <a:bodyPr wrap="square"/>
                    <a:lstStyle/>
                    <a:p>
                      <a:pPr>
                        <a:lnSpc>
                          <a:spcPct val="108000"/>
                        </a:lnSpc>
                        <a:spcAft>
                          <a:spcPts val="0"/>
                        </a:spcAft>
                      </a:pPr>
                      <a:r>
                        <a:rPr sz="1250">
                          <a:solidFill>
                            <a:srgbClr val="555252"/>
                          </a:solidFill>
                          <a:latin typeface="Inter"/>
                        </a:rPr>
                        <a:t>Operator and pilot</a:t>
                      </a:r>
                    </a:p>
                  </a:txBody>
                  <a:tcPr marL="109728" marR="109728" marT="54864" marB="54864" anchor="t">
                    <a:solidFill>
                      <a:srgbClr val="FDFDFA"/>
                    </a:solidFill>
                  </a:tcPr>
                </a:tc>
                <a:tc>
                  <a:txBody>
                    <a:bodyPr wrap="square"/>
                    <a:lstStyle/>
                    <a:p>
                      <a:pPr>
                        <a:lnSpc>
                          <a:spcPct val="108000"/>
                        </a:lnSpc>
                        <a:spcAft>
                          <a:spcPts val="0"/>
                        </a:spcAft>
                      </a:pPr>
                      <a:r>
                        <a:rPr sz="1250">
                          <a:solidFill>
                            <a:srgbClr val="555252"/>
                          </a:solidFill>
                          <a:latin typeface="Inter"/>
                        </a:rPr>
                        <a:t>Flies it and carries legal responsibility</a:t>
                      </a:r>
                    </a:p>
                  </a:txBody>
                  <a:tcPr marL="109728" marR="109728" marT="54864" marB="54864" anchor="t">
                    <a:solidFill>
                      <a:srgbClr val="FDFDFA"/>
                    </a:solidFill>
                  </a:tcPr>
                </a:tc>
                <a:tc>
                  <a:txBody>
                    <a:bodyPr wrap="square"/>
                    <a:lstStyle/>
                    <a:p>
                      <a:pPr>
                        <a:lnSpc>
                          <a:spcPct val="108000"/>
                        </a:lnSpc>
                        <a:spcAft>
                          <a:spcPts val="0"/>
                        </a:spcAft>
                      </a:pPr>
                      <a:r>
                        <a:rPr sz="1250">
                          <a:solidFill>
                            <a:srgbClr val="555252"/>
                          </a:solidFill>
                          <a:latin typeface="Inter"/>
                        </a:rPr>
                        <a:t>High</a:t>
                      </a:r>
                    </a:p>
                  </a:txBody>
                  <a:tcPr marL="109728" marR="109728" marT="54864" marB="54864" anchor="t">
                    <a:solidFill>
                      <a:srgbClr val="FDFDFA"/>
                    </a:solidFill>
                  </a:tcPr>
                </a:tc>
                <a:tc>
                  <a:txBody>
                    <a:bodyPr wrap="square"/>
                    <a:lstStyle/>
                    <a:p>
                      <a:pPr>
                        <a:lnSpc>
                          <a:spcPct val="108000"/>
                        </a:lnSpc>
                        <a:spcAft>
                          <a:spcPts val="0"/>
                        </a:spcAft>
                      </a:pPr>
                      <a:r>
                        <a:rPr sz="1250">
                          <a:solidFill>
                            <a:srgbClr val="555252"/>
                          </a:solidFill>
                          <a:latin typeface="Inter"/>
                        </a:rPr>
                        <a:t>Held responsible for software they did not write</a:t>
                      </a:r>
                    </a:p>
                  </a:txBody>
                  <a:tcPr marL="109728" marR="109728" marT="54864" marB="54864" anchor="t">
                    <a:solidFill>
                      <a:srgbClr val="FDFDFA"/>
                    </a:solidFill>
                  </a:tcPr>
                </a:tc>
              </a:tr>
              <a:tr h="670560">
                <a:tc>
                  <a:txBody>
                    <a:bodyPr wrap="square"/>
                    <a:lstStyle/>
                    <a:p>
                      <a:pPr>
                        <a:lnSpc>
                          <a:spcPct val="108000"/>
                        </a:lnSpc>
                        <a:spcAft>
                          <a:spcPts val="0"/>
                        </a:spcAft>
                      </a:pPr>
                      <a:r>
                        <a:rPr sz="1250">
                          <a:solidFill>
                            <a:srgbClr val="555252"/>
                          </a:solidFill>
                          <a:latin typeface="Inter"/>
                        </a:rPr>
                        <a:t>Regulators</a:t>
                      </a:r>
                    </a:p>
                  </a:txBody>
                  <a:tcPr marL="109728" marR="109728" marT="54864" marB="54864" anchor="t">
                    <a:solidFill>
                      <a:srgbClr val="EFEEEC"/>
                    </a:solidFill>
                  </a:tcPr>
                </a:tc>
                <a:tc>
                  <a:txBody>
                    <a:bodyPr wrap="square"/>
                    <a:lstStyle/>
                    <a:p>
                      <a:pPr>
                        <a:lnSpc>
                          <a:spcPct val="108000"/>
                        </a:lnSpc>
                        <a:spcAft>
                          <a:spcPts val="0"/>
                        </a:spcAft>
                      </a:pPr>
                      <a:r>
                        <a:rPr sz="1250">
                          <a:solidFill>
                            <a:srgbClr val="555252"/>
                          </a:solidFill>
                          <a:latin typeface="Inter"/>
                        </a:rPr>
                        <a:t>Set registration, certification and airspace rules</a:t>
                      </a:r>
                    </a:p>
                  </a:txBody>
                  <a:tcPr marL="109728" marR="109728" marT="54864" marB="54864" anchor="t">
                    <a:solidFill>
                      <a:srgbClr val="EFEEEC"/>
                    </a:solidFill>
                  </a:tcPr>
                </a:tc>
                <a:tc>
                  <a:txBody>
                    <a:bodyPr wrap="square"/>
                    <a:lstStyle/>
                    <a:p>
                      <a:pPr>
                        <a:lnSpc>
                          <a:spcPct val="108000"/>
                        </a:lnSpc>
                        <a:spcAft>
                          <a:spcPts val="0"/>
                        </a:spcAft>
                      </a:pPr>
                      <a:r>
                        <a:rPr sz="1250">
                          <a:solidFill>
                            <a:srgbClr val="555252"/>
                          </a:solidFill>
                          <a:latin typeface="Inter"/>
                        </a:rPr>
                        <a:t>Very high</a:t>
                      </a:r>
                    </a:p>
                  </a:txBody>
                  <a:tcPr marL="109728" marR="109728" marT="54864" marB="54864" anchor="t">
                    <a:solidFill>
                      <a:srgbClr val="EFEEEC"/>
                    </a:solidFill>
                  </a:tcPr>
                </a:tc>
                <a:tc>
                  <a:txBody>
                    <a:bodyPr wrap="square"/>
                    <a:lstStyle/>
                    <a:p>
                      <a:pPr>
                        <a:lnSpc>
                          <a:spcPct val="108000"/>
                        </a:lnSpc>
                        <a:spcAft>
                          <a:spcPts val="0"/>
                        </a:spcAft>
                      </a:pPr>
                      <a:r>
                        <a:rPr sz="1250">
                          <a:solidFill>
                            <a:srgbClr val="555252"/>
                          </a:solidFill>
                          <a:latin typeface="Inter"/>
                        </a:rPr>
                        <a:t>Unregistered operation. No demonstrated failsafe</a:t>
                      </a:r>
                    </a:p>
                  </a:txBody>
                  <a:tcPr marL="109728" marR="109728" marT="54864" marB="54864" anchor="t">
                    <a:solidFill>
                      <a:srgbClr val="EFEEEC"/>
                    </a:solidFill>
                  </a:tcPr>
                </a:tc>
              </a:tr>
              <a:tr h="670560">
                <a:tc>
                  <a:txBody>
                    <a:bodyPr wrap="square"/>
                    <a:lstStyle/>
                    <a:p>
                      <a:pPr>
                        <a:lnSpc>
                          <a:spcPct val="108000"/>
                        </a:lnSpc>
                        <a:spcAft>
                          <a:spcPts val="0"/>
                        </a:spcAft>
                      </a:pPr>
                      <a:r>
                        <a:rPr sz="1250">
                          <a:solidFill>
                            <a:srgbClr val="555252"/>
                          </a:solidFill>
                          <a:latin typeface="Inter"/>
                        </a:rPr>
                        <a:t>Institution</a:t>
                      </a:r>
                    </a:p>
                  </a:txBody>
                  <a:tcPr marL="109728" marR="109728" marT="54864" marB="54864" anchor="t">
                    <a:solidFill>
                      <a:srgbClr val="FDFDFA"/>
                    </a:solidFill>
                  </a:tcPr>
                </a:tc>
                <a:tc>
                  <a:txBody>
                    <a:bodyPr wrap="square"/>
                    <a:lstStyle/>
                    <a:p>
                      <a:pPr>
                        <a:lnSpc>
                          <a:spcPct val="108000"/>
                        </a:lnSpc>
                        <a:spcAft>
                          <a:spcPts val="0"/>
                        </a:spcAft>
                      </a:pPr>
                      <a:r>
                        <a:rPr sz="1250">
                          <a:solidFill>
                            <a:srgbClr val="555252"/>
                          </a:solidFill>
                          <a:latin typeface="Inter"/>
                        </a:rPr>
                        <a:t>Provides premises, carries liability</a:t>
                      </a:r>
                    </a:p>
                  </a:txBody>
                  <a:tcPr marL="109728" marR="109728" marT="54864" marB="54864" anchor="t">
                    <a:solidFill>
                      <a:srgbClr val="FDFDFA"/>
                    </a:solidFill>
                  </a:tcPr>
                </a:tc>
                <a:tc>
                  <a:txBody>
                    <a:bodyPr wrap="square"/>
                    <a:lstStyle/>
                    <a:p>
                      <a:pPr>
                        <a:lnSpc>
                          <a:spcPct val="108000"/>
                        </a:lnSpc>
                        <a:spcAft>
                          <a:spcPts val="0"/>
                        </a:spcAft>
                      </a:pPr>
                      <a:r>
                        <a:rPr sz="1250">
                          <a:solidFill>
                            <a:srgbClr val="555252"/>
                          </a:solidFill>
                          <a:latin typeface="Inter"/>
                        </a:rPr>
                        <a:t>High</a:t>
                      </a:r>
                    </a:p>
                  </a:txBody>
                  <a:tcPr marL="109728" marR="109728" marT="54864" marB="54864" anchor="t">
                    <a:solidFill>
                      <a:srgbClr val="FDFDFA"/>
                    </a:solidFill>
                  </a:tcPr>
                </a:tc>
                <a:tc>
                  <a:txBody>
                    <a:bodyPr wrap="square"/>
                    <a:lstStyle/>
                    <a:p>
                      <a:pPr>
                        <a:lnSpc>
                          <a:spcPct val="108000"/>
                        </a:lnSpc>
                        <a:spcAft>
                          <a:spcPts val="0"/>
                        </a:spcAft>
                      </a:pPr>
                      <a:r>
                        <a:rPr sz="1250">
                          <a:solidFill>
                            <a:srgbClr val="555252"/>
                          </a:solidFill>
                          <a:latin typeface="Inter"/>
                        </a:rPr>
                        <a:t>Injury on its premises. Reputational exposure</a:t>
                      </a:r>
                    </a:p>
                  </a:txBody>
                  <a:tcPr marL="109728" marR="109728" marT="54864" marB="54864" anchor="t">
                    <a:solidFill>
                      <a:srgbClr val="FDFDFA"/>
                    </a:solidFill>
                  </a:tcPr>
                </a:tc>
              </a:tr>
              <a:tr h="670560">
                <a:tc>
                  <a:txBody>
                    <a:bodyPr wrap="square"/>
                    <a:lstStyle/>
                    <a:p>
                      <a:pPr>
                        <a:lnSpc>
                          <a:spcPct val="108000"/>
                        </a:lnSpc>
                        <a:spcAft>
                          <a:spcPts val="0"/>
                        </a:spcAft>
                      </a:pPr>
                      <a:r>
                        <a:rPr sz="1250">
                          <a:solidFill>
                            <a:srgbClr val="555252"/>
                          </a:solidFill>
                          <a:latin typeface="Inter"/>
                        </a:rPr>
                        <a:t>Project team</a:t>
                      </a:r>
                    </a:p>
                  </a:txBody>
                  <a:tcPr marL="109728" marR="109728" marT="54864" marB="54864" anchor="t">
                    <a:solidFill>
                      <a:srgbClr val="EFEEEC"/>
                    </a:solidFill>
                  </a:tcPr>
                </a:tc>
                <a:tc>
                  <a:txBody>
                    <a:bodyPr wrap="square"/>
                    <a:lstStyle/>
                    <a:p>
                      <a:pPr>
                        <a:lnSpc>
                          <a:spcPct val="108000"/>
                        </a:lnSpc>
                        <a:spcAft>
                          <a:spcPts val="0"/>
                        </a:spcAft>
                      </a:pPr>
                      <a:r>
                        <a:rPr sz="1250">
                          <a:solidFill>
                            <a:srgbClr val="555252"/>
                          </a:solidFill>
                          <a:latin typeface="Inter"/>
                        </a:rPr>
                        <a:t>Design, build, evaluate, document</a:t>
                      </a:r>
                    </a:p>
                  </a:txBody>
                  <a:tcPr marL="109728" marR="109728" marT="54864" marB="54864" anchor="t">
                    <a:solidFill>
                      <a:srgbClr val="EFEEEC"/>
                    </a:solidFill>
                  </a:tcPr>
                </a:tc>
                <a:tc>
                  <a:txBody>
                    <a:bodyPr wrap="square"/>
                    <a:lstStyle/>
                    <a:p>
                      <a:pPr>
                        <a:lnSpc>
                          <a:spcPct val="108000"/>
                        </a:lnSpc>
                        <a:spcAft>
                          <a:spcPts val="0"/>
                        </a:spcAft>
                      </a:pPr>
                      <a:r>
                        <a:rPr sz="1250">
                          <a:solidFill>
                            <a:srgbClr val="555252"/>
                          </a:solidFill>
                          <a:latin typeface="Inter"/>
                        </a:rPr>
                        <a:t>High</a:t>
                      </a:r>
                    </a:p>
                  </a:txBody>
                  <a:tcPr marL="109728" marR="109728" marT="54864" marB="54864" anchor="t">
                    <a:solidFill>
                      <a:srgbClr val="EFEEEC"/>
                    </a:solidFill>
                  </a:tcPr>
                </a:tc>
                <a:tc>
                  <a:txBody>
                    <a:bodyPr wrap="square"/>
                    <a:lstStyle/>
                    <a:p>
                      <a:pPr>
                        <a:lnSpc>
                          <a:spcPct val="108000"/>
                        </a:lnSpc>
                        <a:spcAft>
                          <a:spcPts val="0"/>
                        </a:spcAft>
                      </a:pPr>
                      <a:r>
                        <a:rPr sz="1250">
                          <a:solidFill>
                            <a:srgbClr val="555252"/>
                          </a:solidFill>
                          <a:latin typeface="Inter"/>
                        </a:rPr>
                        <a:t>Delivering in a semester while reporting honestly</a:t>
                      </a:r>
                    </a:p>
                  </a:txBody>
                  <a:tcPr marL="109728" marR="109728" marT="54864" marB="54864" anchor="t">
                    <a:solidFill>
                      <a:srgbClr val="EFEEEC"/>
                    </a:solidFill>
                  </a:tcPr>
                </a:tc>
              </a:tr>
              <a:tr h="670560">
                <a:tc>
                  <a:txBody>
                    <a:bodyPr wrap="square"/>
                    <a:lstStyle/>
                    <a:p>
                      <a:pPr>
                        <a:lnSpc>
                          <a:spcPct val="108000"/>
                        </a:lnSpc>
                        <a:spcAft>
                          <a:spcPts val="0"/>
                        </a:spcAft>
                      </a:pPr>
                      <a:r>
                        <a:rPr sz="1250">
                          <a:solidFill>
                            <a:srgbClr val="555252"/>
                          </a:solidFill>
                          <a:latin typeface="Inter"/>
                        </a:rPr>
                        <a:t>Dataset providers</a:t>
                      </a:r>
                    </a:p>
                  </a:txBody>
                  <a:tcPr marL="109728" marR="109728" marT="54864" marB="54864" anchor="t">
                    <a:solidFill>
                      <a:srgbClr val="FDFDFA"/>
                    </a:solidFill>
                  </a:tcPr>
                </a:tc>
                <a:tc>
                  <a:txBody>
                    <a:bodyPr wrap="square"/>
                    <a:lstStyle/>
                    <a:p>
                      <a:pPr>
                        <a:lnSpc>
                          <a:spcPct val="108000"/>
                        </a:lnSpc>
                        <a:spcAft>
                          <a:spcPts val="0"/>
                        </a:spcAft>
                      </a:pPr>
                      <a:r>
                        <a:rPr sz="1250">
                          <a:solidFill>
                            <a:srgbClr val="555252"/>
                          </a:solidFill>
                          <a:latin typeface="Inter"/>
                        </a:rPr>
                        <a:t>Released the model and benchmarks under stated terms</a:t>
                      </a:r>
                    </a:p>
                  </a:txBody>
                  <a:tcPr marL="109728" marR="109728" marT="54864" marB="54864" anchor="t">
                    <a:solidFill>
                      <a:srgbClr val="FDFDFA"/>
                    </a:solidFill>
                  </a:tcPr>
                </a:tc>
                <a:tc>
                  <a:txBody>
                    <a:bodyPr wrap="square"/>
                    <a:lstStyle/>
                    <a:p>
                      <a:pPr>
                        <a:lnSpc>
                          <a:spcPct val="108000"/>
                        </a:lnSpc>
                        <a:spcAft>
                          <a:spcPts val="0"/>
                        </a:spcAft>
                      </a:pPr>
                      <a:r>
                        <a:rPr sz="1250">
                          <a:solidFill>
                            <a:srgbClr val="555252"/>
                          </a:solidFill>
                          <a:latin typeface="Inter"/>
                        </a:rPr>
                        <a:t>Low but binding</a:t>
                      </a:r>
                    </a:p>
                  </a:txBody>
                  <a:tcPr marL="109728" marR="109728" marT="54864" marB="54864" anchor="t">
                    <a:solidFill>
                      <a:srgbClr val="FDFDFA"/>
                    </a:solidFill>
                  </a:tcPr>
                </a:tc>
                <a:tc>
                  <a:txBody>
                    <a:bodyPr wrap="square"/>
                    <a:lstStyle/>
                    <a:p>
                      <a:pPr>
                        <a:lnSpc>
                          <a:spcPct val="108000"/>
                        </a:lnSpc>
                        <a:spcAft>
                          <a:spcPts val="0"/>
                        </a:spcAft>
                      </a:pPr>
                      <a:r>
                        <a:rPr sz="1250">
                          <a:solidFill>
                            <a:srgbClr val="555252"/>
                          </a:solidFill>
                          <a:latin typeface="Inter"/>
                        </a:rPr>
                        <a:t>Attribution. KITTI is non commercial</a:t>
                      </a:r>
                    </a:p>
                  </a:txBody>
                  <a:tcPr marL="109728" marR="109728" marT="54864" marB="54864" anchor="t">
                    <a:solidFill>
                      <a:srgbClr val="FDFDFA"/>
                    </a:solidFill>
                  </a:tcPr>
                </a:tc>
              </a:tr>
              <a:tr h="670560">
                <a:tc>
                  <a:txBody>
                    <a:bodyPr wrap="square"/>
                    <a:lstStyle/>
                    <a:p>
                      <a:pPr>
                        <a:lnSpc>
                          <a:spcPct val="108000"/>
                        </a:lnSpc>
                        <a:spcAft>
                          <a:spcPts val="0"/>
                        </a:spcAft>
                      </a:pPr>
                      <a:r>
                        <a:rPr sz="1250">
                          <a:solidFill>
                            <a:srgbClr val="555252"/>
                          </a:solidFill>
                          <a:latin typeface="Inter"/>
                        </a:rPr>
                        <a:t>Future maintainers</a:t>
                      </a:r>
                    </a:p>
                  </a:txBody>
                  <a:tcPr marL="109728" marR="109728" marT="54864" marB="54864" anchor="t">
                    <a:solidFill>
                      <a:srgbClr val="EFEEEC"/>
                    </a:solidFill>
                  </a:tcPr>
                </a:tc>
                <a:tc>
                  <a:txBody>
                    <a:bodyPr wrap="square"/>
                    <a:lstStyle/>
                    <a:p>
                      <a:pPr>
                        <a:lnSpc>
                          <a:spcPct val="108000"/>
                        </a:lnSpc>
                        <a:spcAft>
                          <a:spcPts val="0"/>
                        </a:spcAft>
                      </a:pPr>
                      <a:r>
                        <a:rPr sz="1250">
                          <a:solidFill>
                            <a:srgbClr val="555252"/>
                          </a:solidFill>
                          <a:latin typeface="Inter"/>
                        </a:rPr>
                        <a:t>Continue the work after we disperse</a:t>
                      </a:r>
                    </a:p>
                  </a:txBody>
                  <a:tcPr marL="109728" marR="109728" marT="54864" marB="54864" anchor="t">
                    <a:solidFill>
                      <a:srgbClr val="EFEEEC"/>
                    </a:solidFill>
                  </a:tcPr>
                </a:tc>
                <a:tc>
                  <a:txBody>
                    <a:bodyPr wrap="square"/>
                    <a:lstStyle/>
                    <a:p>
                      <a:pPr>
                        <a:lnSpc>
                          <a:spcPct val="108000"/>
                        </a:lnSpc>
                        <a:spcAft>
                          <a:spcPts val="0"/>
                        </a:spcAft>
                      </a:pPr>
                      <a:r>
                        <a:rPr sz="1250">
                          <a:solidFill>
                            <a:srgbClr val="555252"/>
                          </a:solidFill>
                          <a:latin typeface="Inter"/>
                        </a:rPr>
                        <a:t>Low now, high later</a:t>
                      </a:r>
                    </a:p>
                  </a:txBody>
                  <a:tcPr marL="109728" marR="109728" marT="54864" marB="54864" anchor="t">
                    <a:solidFill>
                      <a:srgbClr val="EFEEEC"/>
                    </a:solidFill>
                  </a:tcPr>
                </a:tc>
                <a:tc>
                  <a:txBody>
                    <a:bodyPr wrap="square"/>
                    <a:lstStyle/>
                    <a:p>
                      <a:pPr>
                        <a:lnSpc>
                          <a:spcPct val="108000"/>
                        </a:lnSpc>
                        <a:spcAft>
                          <a:spcPts val="0"/>
                        </a:spcAft>
                      </a:pPr>
                      <a:r>
                        <a:rPr sz="1250">
                          <a:solidFill>
                            <a:srgbClr val="555252"/>
                          </a:solidFill>
                          <a:latin typeface="Inter"/>
                        </a:rPr>
                        <a:t>Reproducing results without asking us</a:t>
                      </a:r>
                    </a:p>
                  </a:txBody>
                  <a:tcPr marL="109728" marR="109728" marT="54864" marB="54864" anchor="t">
                    <a:solidFill>
                      <a:srgbClr val="EFEEEC"/>
                    </a:solidFill>
                  </a:tcPr>
                </a:tc>
              </a:tr>
            </a:tbl>
          </a:graphicData>
        </a:graphic>
      </p:graphicFrame>
      <p:sp>
        <p:nvSpPr>
          <p:cNvPr id="6" name="Rectangle 5"/>
          <p:cNvSpPr/>
          <p:nvPr/>
        </p:nvSpPr>
        <p:spPr>
          <a:xfrm>
            <a:off x="12344400" y="2057400"/>
            <a:ext cx="5120640" cy="3200400"/>
          </a:xfrm>
          <a:prstGeom prst="rect">
            <a:avLst/>
          </a:prstGeom>
          <a:solidFill>
            <a:srgbClr val="FDFDFA"/>
          </a:solidFill>
          <a:ln w="9144">
            <a:solidFill>
              <a:srgbClr val="D5D2C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728448" y="2386584"/>
            <a:ext cx="4352544" cy="2542032"/>
          </a:xfrm>
          <a:prstGeom prst="rect">
            <a:avLst/>
          </a:prstGeom>
          <a:noFill/>
        </p:spPr>
        <p:txBody>
          <a:bodyPr wrap="square" anchor="t" lIns="0" rIns="0" tIns="0" bIns="0">
            <a:spAutoFit/>
          </a:bodyPr>
          <a:lstStyle/>
          <a:p>
            <a:pPr algn="l">
              <a:lnSpc>
                <a:spcPct val="100000"/>
              </a:lnSpc>
              <a:spcBef>
                <a:spcPts val="0"/>
              </a:spcBef>
              <a:spcAft>
                <a:spcPts val="700"/>
              </a:spcAft>
            </a:pPr>
            <a:r>
              <a:rPr sz="2100">
                <a:solidFill>
                  <a:srgbClr val="403E3E"/>
                </a:solidFill>
                <a:latin typeface="Inter SemiBold"/>
              </a:rPr>
              <a:t>Data subjects are not the affected community</a:t>
            </a:r>
          </a:p>
          <a:p>
            <a:pPr algn="l">
              <a:lnSpc>
                <a:spcPct val="112000"/>
              </a:lnSpc>
              <a:spcBef>
                <a:spcPts val="0"/>
              </a:spcBef>
              <a:spcAft>
                <a:spcPts val="700"/>
              </a:spcAft>
            </a:pPr>
            <a:r>
              <a:rPr sz="1500">
                <a:solidFill>
                  <a:srgbClr val="555252"/>
                </a:solidFill>
                <a:latin typeface="Inter"/>
              </a:rPr>
              <a:t>Data subjects are the people in the benchmark photographs. Licence compliance protects them.</a:t>
            </a:r>
          </a:p>
          <a:p>
            <a:pPr algn="l">
              <a:lnSpc>
                <a:spcPct val="112000"/>
              </a:lnSpc>
              <a:spcBef>
                <a:spcPts val="0"/>
              </a:spcBef>
              <a:spcAft>
                <a:spcPts val="700"/>
              </a:spcAft>
            </a:pPr>
            <a:r>
              <a:rPr sz="1500">
                <a:solidFill>
                  <a:srgbClr val="555252"/>
                </a:solidFill>
                <a:latin typeface="Inter"/>
              </a:rPr>
              <a:t>The affected community is whoever stands beneath the aircraft. They gave nothing and face physical harm.</a:t>
            </a:r>
          </a:p>
        </p:txBody>
      </p:sp>
      <p:sp>
        <p:nvSpPr>
          <p:cNvPr id="8" name="Rectangle 7"/>
          <p:cNvSpPr/>
          <p:nvPr/>
        </p:nvSpPr>
        <p:spPr>
          <a:xfrm>
            <a:off x="12344400" y="5550408"/>
            <a:ext cx="5120640" cy="3200400"/>
          </a:xfrm>
          <a:prstGeom prst="rect">
            <a:avLst/>
          </a:prstGeom>
          <a:solidFill>
            <a:srgbClr val="40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728448" y="5879592"/>
            <a:ext cx="4352544" cy="2542032"/>
          </a:xfrm>
          <a:prstGeom prst="rect">
            <a:avLst/>
          </a:prstGeom>
          <a:noFill/>
        </p:spPr>
        <p:txBody>
          <a:bodyPr wrap="square" anchor="t" lIns="0" rIns="0" tIns="0" bIns="0">
            <a:spAutoFit/>
          </a:bodyPr>
          <a:lstStyle/>
          <a:p>
            <a:pPr algn="l">
              <a:lnSpc>
                <a:spcPct val="100000"/>
              </a:lnSpc>
              <a:spcBef>
                <a:spcPts val="0"/>
              </a:spcBef>
              <a:spcAft>
                <a:spcPts val="700"/>
              </a:spcAft>
            </a:pPr>
            <a:r>
              <a:rPr sz="2100">
                <a:solidFill>
                  <a:srgbClr val="EFEEEC"/>
                </a:solidFill>
                <a:latin typeface="Inter SemiBold"/>
              </a:rPr>
              <a:t>Conflicts we had to resolve</a:t>
            </a:r>
          </a:p>
          <a:p>
            <a:pPr algn="l">
              <a:lnSpc>
                <a:spcPct val="112000"/>
              </a:lnSpc>
              <a:spcBef>
                <a:spcPts val="0"/>
              </a:spcBef>
              <a:spcAft>
                <a:spcPts val="700"/>
              </a:spcAft>
            </a:pPr>
            <a:r>
              <a:rPr sz="1500">
                <a:solidFill>
                  <a:srgbClr val="C9C6C3"/>
                </a:solidFill>
                <a:latin typeface="Inter"/>
              </a:rPr>
              <a:t>Team against bystanders. We gain from flying early, they carry the risk. So testing is staged.</a:t>
            </a:r>
          </a:p>
          <a:p>
            <a:pPr algn="l">
              <a:lnSpc>
                <a:spcPct val="112000"/>
              </a:lnSpc>
              <a:spcBef>
                <a:spcPts val="0"/>
              </a:spcBef>
              <a:spcAft>
                <a:spcPts val="700"/>
              </a:spcAft>
            </a:pPr>
            <a:r>
              <a:rPr sz="1500">
                <a:solidFill>
                  <a:srgbClr val="C9C6C3"/>
                </a:solidFill>
                <a:latin typeface="Inter"/>
              </a:rPr>
              <a:t>Team against assessors. A high number is rewarded, the honest one is lower. The reporting rule was fixed first.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FEEEC"/>
        </a:solidFill>
        <a:effectLst/>
      </p:bgPr>
    </p:bg>
    <p:spTree>
      <p:nvGrpSpPr>
        <p:cNvPr id="1" name=""/>
        <p:cNvGrpSpPr/>
        <p:nvPr/>
      </p:nvGrpSpPr>
      <p:grpSpPr/>
      <p:sp>
        <p:nvSpPr>
          <p:cNvPr id="2" name="TextBox 1"/>
          <p:cNvSpPr txBox="1"/>
          <p:nvPr/>
        </p:nvSpPr>
        <p:spPr>
          <a:xfrm>
            <a:off x="822960" y="576072"/>
            <a:ext cx="16733520" cy="1234440"/>
          </a:xfrm>
          <a:prstGeom prst="rect">
            <a:avLst/>
          </a:prstGeom>
          <a:noFill/>
        </p:spPr>
        <p:txBody>
          <a:bodyPr wrap="square" anchor="t" lIns="0" rIns="0" tIns="0" bIns="0">
            <a:spAutoFit/>
          </a:bodyPr>
          <a:lstStyle/>
          <a:p>
            <a:pPr algn="l">
              <a:lnSpc>
                <a:spcPct val="100000"/>
              </a:lnSpc>
              <a:spcBef>
                <a:spcPts val="0"/>
              </a:spcBef>
              <a:spcAft>
                <a:spcPts val="600"/>
              </a:spcAft>
            </a:pPr>
            <a:r>
              <a:rPr sz="1500">
                <a:solidFill>
                  <a:srgbClr val="8A8684"/>
                </a:solidFill>
                <a:latin typeface="Inter Light"/>
              </a:rPr>
              <a:t>THE GAP, THE RISK, THE NEXT MOVES</a:t>
            </a:r>
          </a:p>
          <a:p>
            <a:pPr algn="l">
              <a:lnSpc>
                <a:spcPct val="100000"/>
              </a:lnSpc>
              <a:spcBef>
                <a:spcPts val="0"/>
              </a:spcBef>
              <a:spcAft>
                <a:spcPts val="0"/>
              </a:spcAft>
            </a:pPr>
            <a:r>
              <a:rPr sz="4350">
                <a:solidFill>
                  <a:srgbClr val="403E3E"/>
                </a:solidFill>
                <a:latin typeface="Inter"/>
              </a:rPr>
              <a:t>Future Work and Next Steps</a:t>
            </a:r>
          </a:p>
        </p:txBody>
      </p:sp>
      <p:sp>
        <p:nvSpPr>
          <p:cNvPr id="3" name="Rectangle 2"/>
          <p:cNvSpPr/>
          <p:nvPr/>
        </p:nvSpPr>
        <p:spPr>
          <a:xfrm>
            <a:off x="822960" y="1755648"/>
            <a:ext cx="16642080" cy="18288"/>
          </a:xfrm>
          <a:prstGeom prst="rect">
            <a:avLst/>
          </a:prstGeom>
          <a:solidFill>
            <a:srgbClr val="D5D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6824960" y="9509760"/>
            <a:ext cx="640080" cy="320040"/>
          </a:xfrm>
          <a:prstGeom prst="rect">
            <a:avLst/>
          </a:prstGeom>
          <a:noFill/>
        </p:spPr>
        <p:txBody>
          <a:bodyPr wrap="square" anchor="t" lIns="0" rIns="0" tIns="0" bIns="0">
            <a:spAutoFit/>
          </a:bodyPr>
          <a:lstStyle/>
          <a:p>
            <a:pPr algn="r">
              <a:lnSpc>
                <a:spcPct val="100000"/>
              </a:lnSpc>
              <a:spcBef>
                <a:spcPts val="0"/>
              </a:spcBef>
              <a:spcAft>
                <a:spcPts val="400"/>
              </a:spcAft>
            </a:pPr>
            <a:r>
              <a:rPr sz="1300">
                <a:solidFill>
                  <a:srgbClr val="8A8684"/>
                </a:solidFill>
                <a:latin typeface="Inter Light"/>
              </a:rPr>
              <a:t>11</a:t>
            </a:r>
          </a:p>
        </p:txBody>
      </p:sp>
      <p:pic>
        <p:nvPicPr>
          <p:cNvPr id="5" name="Picture 4" descr="fig4_simulation.png"/>
          <p:cNvPicPr>
            <a:picLocks noChangeAspect="1"/>
          </p:cNvPicPr>
          <p:nvPr/>
        </p:nvPicPr>
        <p:blipFill>
          <a:blip r:embed="rId2"/>
          <a:stretch>
            <a:fillRect/>
          </a:stretch>
        </p:blipFill>
        <p:spPr>
          <a:xfrm>
            <a:off x="822960" y="2075688"/>
            <a:ext cx="7863840" cy="2621280"/>
          </a:xfrm>
          <a:prstGeom prst="rect">
            <a:avLst/>
          </a:prstGeom>
        </p:spPr>
      </p:pic>
      <p:sp>
        <p:nvSpPr>
          <p:cNvPr id="6" name="Rectangle 5"/>
          <p:cNvSpPr/>
          <p:nvPr/>
        </p:nvSpPr>
        <p:spPr>
          <a:xfrm>
            <a:off x="822960" y="4892040"/>
            <a:ext cx="7863840" cy="1874519"/>
          </a:xfrm>
          <a:prstGeom prst="rect">
            <a:avLst/>
          </a:prstGeom>
          <a:solidFill>
            <a:srgbClr val="FDFDFA"/>
          </a:solidFill>
          <a:ln w="9144">
            <a:solidFill>
              <a:srgbClr val="D5D2C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07008" y="5221224"/>
            <a:ext cx="7095744" cy="1216151"/>
          </a:xfrm>
          <a:prstGeom prst="rect">
            <a:avLst/>
          </a:prstGeom>
          <a:noFill/>
        </p:spPr>
        <p:txBody>
          <a:bodyPr wrap="square" anchor="t" lIns="0" rIns="0" tIns="0" bIns="0">
            <a:spAutoFit/>
          </a:bodyPr>
          <a:lstStyle/>
          <a:p>
            <a:pPr algn="l">
              <a:lnSpc>
                <a:spcPct val="100000"/>
              </a:lnSpc>
              <a:spcBef>
                <a:spcPts val="0"/>
              </a:spcBef>
              <a:spcAft>
                <a:spcPts val="700"/>
              </a:spcAft>
            </a:pPr>
            <a:r>
              <a:rPr sz="2100">
                <a:solidFill>
                  <a:srgbClr val="403E3E"/>
                </a:solidFill>
                <a:latin typeface="Inter SemiBold"/>
              </a:rPr>
              <a:t>Main justification and gap identified</a:t>
            </a:r>
          </a:p>
          <a:p>
            <a:pPr algn="l">
              <a:lnSpc>
                <a:spcPct val="112000"/>
              </a:lnSpc>
              <a:spcBef>
                <a:spcPts val="0"/>
              </a:spcBef>
              <a:spcAft>
                <a:spcPts val="700"/>
              </a:spcAft>
            </a:pPr>
            <a:r>
              <a:rPr sz="1500">
                <a:solidFill>
                  <a:srgbClr val="555252"/>
                </a:solidFill>
                <a:latin typeface="Inter"/>
              </a:rPr>
              <a:t>Nobody has measured what avoidance performance costs when a distance sensor is replaced by a prediction, with everything else held constant. Our ablation does exactly that.</a:t>
            </a:r>
          </a:p>
        </p:txBody>
      </p:sp>
      <p:sp>
        <p:nvSpPr>
          <p:cNvPr id="8" name="Rectangle 7"/>
          <p:cNvSpPr/>
          <p:nvPr/>
        </p:nvSpPr>
        <p:spPr>
          <a:xfrm>
            <a:off x="822960" y="6949440"/>
            <a:ext cx="7863840" cy="1828800"/>
          </a:xfrm>
          <a:prstGeom prst="rect">
            <a:avLst/>
          </a:prstGeom>
          <a:solidFill>
            <a:srgbClr val="40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07008" y="7278624"/>
            <a:ext cx="7095744" cy="1170432"/>
          </a:xfrm>
          <a:prstGeom prst="rect">
            <a:avLst/>
          </a:prstGeom>
          <a:noFill/>
        </p:spPr>
        <p:txBody>
          <a:bodyPr wrap="square" anchor="t" lIns="0" rIns="0" tIns="0" bIns="0">
            <a:spAutoFit/>
          </a:bodyPr>
          <a:lstStyle/>
          <a:p>
            <a:pPr algn="l">
              <a:lnSpc>
                <a:spcPct val="100000"/>
              </a:lnSpc>
              <a:spcBef>
                <a:spcPts val="0"/>
              </a:spcBef>
              <a:spcAft>
                <a:spcPts val="700"/>
              </a:spcAft>
            </a:pPr>
            <a:r>
              <a:rPr sz="2100">
                <a:solidFill>
                  <a:srgbClr val="EFEEEC"/>
                </a:solidFill>
                <a:latin typeface="Inter SemiBold"/>
              </a:rPr>
              <a:t>Most important risk to address first</a:t>
            </a:r>
          </a:p>
          <a:p>
            <a:pPr algn="l">
              <a:lnSpc>
                <a:spcPct val="112000"/>
              </a:lnSpc>
              <a:spcBef>
                <a:spcPts val="0"/>
              </a:spcBef>
              <a:spcAft>
                <a:spcPts val="700"/>
              </a:spcAft>
            </a:pPr>
            <a:r>
              <a:rPr sz="1450">
                <a:solidFill>
                  <a:srgbClr val="C9C6C3"/>
                </a:solidFill>
                <a:latin typeface="Inter"/>
              </a:rPr>
              <a:t>A reactive policy has no way out of a concave trap. With perfect depth we complete 66 per cent of held out courses without contact, and most failures are timeouts, not crashes. That is the ceiling, so the 90 per cent target cannot be met as things stand.</a:t>
            </a:r>
          </a:p>
        </p:txBody>
      </p:sp>
      <p:sp>
        <p:nvSpPr>
          <p:cNvPr id="10" name="Rectangle 9"/>
          <p:cNvSpPr/>
          <p:nvPr/>
        </p:nvSpPr>
        <p:spPr>
          <a:xfrm>
            <a:off x="9144000" y="2057400"/>
            <a:ext cx="8321040" cy="6720840"/>
          </a:xfrm>
          <a:prstGeom prst="rect">
            <a:avLst/>
          </a:prstGeom>
          <a:solidFill>
            <a:srgbClr val="FDFDFA"/>
          </a:solidFill>
          <a:ln w="9144">
            <a:solidFill>
              <a:srgbClr val="D5D2C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28048" y="2386584"/>
            <a:ext cx="7552944" cy="6062472"/>
          </a:xfrm>
          <a:prstGeom prst="rect">
            <a:avLst/>
          </a:prstGeom>
          <a:noFill/>
        </p:spPr>
        <p:txBody>
          <a:bodyPr wrap="square" anchor="t" lIns="0" rIns="0" tIns="0" bIns="0">
            <a:spAutoFit/>
          </a:bodyPr>
          <a:lstStyle/>
          <a:p>
            <a:pPr algn="l">
              <a:lnSpc>
                <a:spcPct val="100000"/>
              </a:lnSpc>
              <a:spcBef>
                <a:spcPts val="0"/>
              </a:spcBef>
              <a:spcAft>
                <a:spcPts val="1000"/>
              </a:spcAft>
            </a:pPr>
            <a:r>
              <a:rPr sz="2100">
                <a:solidFill>
                  <a:srgbClr val="403E3E"/>
                </a:solidFill>
                <a:latin typeface="Inter SemiBold"/>
              </a:rPr>
              <a:t>Immediate next steps</a:t>
            </a:r>
          </a:p>
          <a:p>
            <a:pPr algn="l">
              <a:lnSpc>
                <a:spcPct val="112000"/>
              </a:lnSpc>
              <a:spcBef>
                <a:spcPts val="0"/>
              </a:spcBef>
              <a:spcAft>
                <a:spcPts val="1000"/>
              </a:spcAft>
            </a:pPr>
            <a:r>
              <a:rPr sz="1600">
                <a:solidFill>
                  <a:srgbClr val="555252"/>
                </a:solidFill>
                <a:latin typeface="Inter"/>
              </a:rPr>
              <a:t>1.  Put MiDaS into the loop and run the ablation. The policy already takes the depth map as an argument, so the planner needs no change.</a:t>
            </a:r>
          </a:p>
          <a:p>
            <a:pPr algn="l">
              <a:lnSpc>
                <a:spcPct val="112000"/>
              </a:lnSpc>
              <a:spcBef>
                <a:spcPts val="0"/>
              </a:spcBef>
              <a:spcAft>
                <a:spcPts val="1000"/>
              </a:spcAft>
            </a:pPr>
            <a:r>
              <a:rPr sz="1600">
                <a:solidFill>
                  <a:srgbClr val="555252"/>
                </a:solidFill>
                <a:latin typeface="Inter"/>
              </a:rPr>
              <a:t>2.  Verify the scale and offset alignment before trusting any depth figure. Median scaling alone would make the model look broken when the alignment is at fault.</a:t>
            </a:r>
          </a:p>
          <a:p>
            <a:pPr algn="l">
              <a:lnSpc>
                <a:spcPct val="112000"/>
              </a:lnSpc>
              <a:spcBef>
                <a:spcPts val="0"/>
              </a:spcBef>
              <a:spcAft>
                <a:spcPts val="1000"/>
              </a:spcAft>
            </a:pPr>
            <a:r>
              <a:rPr sz="1600">
                <a:solidFill>
                  <a:srgbClr val="555252"/>
                </a:solidFill>
                <a:latin typeface="Inter"/>
              </a:rPr>
              <a:t>3.  Measure whether the model runs on the Raspberry Pi. The architecture assumes it cannot, and that assumption has never been tested. If it can, the wireless link leaves the control loop entirely.</a:t>
            </a:r>
          </a:p>
          <a:p>
            <a:pPr algn="l">
              <a:lnSpc>
                <a:spcPct val="112000"/>
              </a:lnSpc>
              <a:spcBef>
                <a:spcPts val="0"/>
              </a:spcBef>
              <a:spcAft>
                <a:spcPts val="1000"/>
              </a:spcAft>
            </a:pPr>
            <a:r>
              <a:rPr sz="1600">
                <a:solidFill>
                  <a:srgbClr val="555252"/>
                </a:solidFill>
                <a:latin typeface="Inter"/>
              </a:rPr>
              <a:t>4.  Resolve the 90 per cent target in writing. We prefer reporting a curve against obstacle density, which describes the method better than any single number.</a:t>
            </a:r>
          </a:p>
          <a:p>
            <a:pPr algn="l">
              <a:lnSpc>
                <a:spcPct val="112000"/>
              </a:lnSpc>
              <a:spcBef>
                <a:spcPts val="0"/>
              </a:spcBef>
              <a:spcAft>
                <a:spcPts val="1000"/>
              </a:spcAft>
            </a:pPr>
            <a:r>
              <a:rPr sz="1600">
                <a:solidFill>
                  <a:srgbClr val="555252"/>
                </a:solidFill>
                <a:latin typeface="Inter"/>
              </a:rPr>
              <a:t>5.  Complete the mass and thrust budget before buying propulsion.</a:t>
            </a:r>
          </a:p>
          <a:p>
            <a:pPr algn="l">
              <a:lnSpc>
                <a:spcPct val="112000"/>
              </a:lnSpc>
              <a:spcBef>
                <a:spcPts val="0"/>
              </a:spcBef>
              <a:spcAft>
                <a:spcPts val="1000"/>
              </a:spcAft>
            </a:pPr>
            <a:r>
              <a:rPr sz="1600">
                <a:solidFill>
                  <a:srgbClr val="555252"/>
                </a:solidFill>
                <a:latin typeface="Inter"/>
              </a:rPr>
              <a:t>6.  Confirm the regulatory position with the institution. This is a gate on outdoor flight, not paperwork to finish afterwards.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FEEEC"/>
        </a:solidFill>
        <a:effectLst/>
      </p:bgPr>
    </p:bg>
    <p:spTree>
      <p:nvGrpSpPr>
        <p:cNvPr id="1" name=""/>
        <p:cNvGrpSpPr/>
        <p:nvPr/>
      </p:nvGrpSpPr>
      <p:grpSpPr/>
      <p:sp>
        <p:nvSpPr>
          <p:cNvPr id="2" name="Rectangle 1"/>
          <p:cNvSpPr/>
          <p:nvPr/>
        </p:nvSpPr>
        <p:spPr>
          <a:xfrm>
            <a:off x="1508760" y="3291840"/>
            <a:ext cx="2057400" cy="36576"/>
          </a:xfrm>
          <a:prstGeom prst="rect">
            <a:avLst/>
          </a:prstGeom>
          <a:solidFill>
            <a:srgbClr val="40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508760" y="4160520"/>
            <a:ext cx="15361920" cy="2011680"/>
          </a:xfrm>
          <a:prstGeom prst="rect">
            <a:avLst/>
          </a:prstGeom>
          <a:noFill/>
        </p:spPr>
        <p:txBody>
          <a:bodyPr wrap="square" anchor="t" lIns="0" rIns="0" tIns="0" bIns="0">
            <a:spAutoFit/>
          </a:bodyPr>
          <a:lstStyle/>
          <a:p>
            <a:pPr algn="l">
              <a:lnSpc>
                <a:spcPct val="100000"/>
              </a:lnSpc>
              <a:spcBef>
                <a:spcPts val="0"/>
              </a:spcBef>
              <a:spcAft>
                <a:spcPts val="1400"/>
              </a:spcAft>
            </a:pPr>
            <a:r>
              <a:rPr sz="7600">
                <a:solidFill>
                  <a:srgbClr val="403E3E"/>
                </a:solidFill>
                <a:latin typeface="Inter SemiBold"/>
              </a:rPr>
              <a:t>Thank you</a:t>
            </a:r>
          </a:p>
          <a:p>
            <a:pPr algn="l">
              <a:lnSpc>
                <a:spcPct val="100000"/>
              </a:lnSpc>
              <a:spcBef>
                <a:spcPts val="0"/>
              </a:spcBef>
              <a:spcAft>
                <a:spcPts val="400"/>
              </a:spcAft>
            </a:pPr>
            <a:r>
              <a:rPr sz="3200">
                <a:solidFill>
                  <a:srgbClr val="8A8684"/>
                </a:solidFill>
                <a:latin typeface="Inter Light"/>
              </a:rPr>
              <a:t>Questions welcome</a:t>
            </a:r>
          </a:p>
        </p:txBody>
      </p:sp>
      <p:sp>
        <p:nvSpPr>
          <p:cNvPr id="4" name="Rectangle 3"/>
          <p:cNvSpPr/>
          <p:nvPr/>
        </p:nvSpPr>
        <p:spPr>
          <a:xfrm>
            <a:off x="1508760" y="7040880"/>
            <a:ext cx="4114800" cy="18288"/>
          </a:xfrm>
          <a:prstGeom prst="rect">
            <a:avLst/>
          </a:prstGeom>
          <a:solidFill>
            <a:srgbClr val="D5D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508760" y="7406640"/>
            <a:ext cx="15087600" cy="1280160"/>
          </a:xfrm>
          <a:prstGeom prst="rect">
            <a:avLst/>
          </a:prstGeom>
          <a:noFill/>
        </p:spPr>
        <p:txBody>
          <a:bodyPr wrap="square" anchor="t" lIns="0" rIns="0" tIns="0" bIns="0">
            <a:spAutoFit/>
          </a:bodyPr>
          <a:lstStyle/>
          <a:p>
            <a:pPr algn="l">
              <a:lnSpc>
                <a:spcPct val="100000"/>
              </a:lnSpc>
              <a:spcBef>
                <a:spcPts val="0"/>
              </a:spcBef>
              <a:spcAft>
                <a:spcPts val="800"/>
              </a:spcAft>
            </a:pPr>
            <a:r>
              <a:rPr sz="2200">
                <a:solidFill>
                  <a:srgbClr val="403E3E"/>
                </a:solidFill>
                <a:latin typeface="Inter SemiBold"/>
              </a:rPr>
              <a:t>Siddharth Lama     Manit Aravind     Sahil Asopa     Riyaan Sheth</a:t>
            </a:r>
          </a:p>
          <a:p>
            <a:pPr algn="l">
              <a:lnSpc>
                <a:spcPct val="100000"/>
              </a:lnSpc>
              <a:spcBef>
                <a:spcPts val="0"/>
              </a:spcBef>
              <a:spcAft>
                <a:spcPts val="400"/>
              </a:spcAft>
            </a:pPr>
            <a:r>
              <a:rPr sz="1600">
                <a:solidFill>
                  <a:srgbClr val="8A8684"/>
                </a:solidFill>
                <a:latin typeface="Inter Light"/>
              </a:rPr>
              <a:t>Autonomous Drone Obstacle Avoidance Using Monocular Depth Estimation</a:t>
            </a:r>
          </a:p>
        </p:txBody>
      </p:sp>
      <p:sp>
        <p:nvSpPr>
          <p:cNvPr id="6" name="TextBox 5"/>
          <p:cNvSpPr txBox="1"/>
          <p:nvPr/>
        </p:nvSpPr>
        <p:spPr>
          <a:xfrm>
            <a:off x="16824960" y="9509760"/>
            <a:ext cx="640080" cy="320040"/>
          </a:xfrm>
          <a:prstGeom prst="rect">
            <a:avLst/>
          </a:prstGeom>
          <a:noFill/>
        </p:spPr>
        <p:txBody>
          <a:bodyPr wrap="square" anchor="t" lIns="0" rIns="0" tIns="0" bIns="0">
            <a:spAutoFit/>
          </a:bodyPr>
          <a:lstStyle/>
          <a:p>
            <a:pPr algn="r">
              <a:lnSpc>
                <a:spcPct val="100000"/>
              </a:lnSpc>
              <a:spcBef>
                <a:spcPts val="0"/>
              </a:spcBef>
              <a:spcAft>
                <a:spcPts val="400"/>
              </a:spcAft>
            </a:pPr>
            <a:r>
              <a:rPr sz="1300">
                <a:solidFill>
                  <a:srgbClr val="8A8684"/>
                </a:solidFill>
                <a:latin typeface="Inter Light"/>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